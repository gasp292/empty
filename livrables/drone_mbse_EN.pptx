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drone as a black box. 18 external actors and systems (2 secondary), grouped in the four categories of the course: constraints, structuring inputs, structuring outputs,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is the system of interest (delivery drone). 8 level-1 functions and 42 level-2 sub-functions. Every function starts with an action verb and names no technology.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analysis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diagram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503920" y="27432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view · Environment analysis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78431" y="1814484"/>
            <a:ext cx="2420713" cy="1570182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104849" y="1814484"/>
            <a:ext cx="1452428" cy="1570182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headEnd type="triangl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31267" y="1814484"/>
            <a:ext cx="484143" cy="1570182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6273542" y="1814484"/>
            <a:ext cx="484143" cy="1570182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6631675" y="1814484"/>
            <a:ext cx="1452428" cy="1570182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6989808" y="1814484"/>
            <a:ext cx="2420713" cy="1570182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2778431" y="4192847"/>
            <a:ext cx="2420713" cy="1454727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4104849" y="4192847"/>
            <a:ext cx="1452428" cy="1454727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5431267" y="4192847"/>
            <a:ext cx="484143" cy="1454727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headEnd type="triangle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6273542" y="4192847"/>
            <a:ext cx="484143" cy="1454727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headEnd type="triangl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6631675" y="4192847"/>
            <a:ext cx="1452428" cy="1454727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 flipH="1" flipV="1">
            <a:off x="6989808" y="4192847"/>
            <a:ext cx="2420713" cy="1454727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2778431" y="5970847"/>
            <a:ext cx="0" cy="334818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72726" y="3442393"/>
            <a:ext cx="1160616" cy="144318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3872726" y="3990802"/>
            <a:ext cx="1160616" cy="144318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916260" y="4135120"/>
            <a:ext cx="696369" cy="0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155610" y="3442393"/>
            <a:ext cx="1160616" cy="144318"/>
          </a:xfrm>
          <a:prstGeom prst="line">
            <a:avLst/>
          </a:prstGeom>
          <a:noFill/>
          <a:ln w="15875">
            <a:solidFill>
              <a:srgbClr val="0E6A8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55610" y="3990802"/>
            <a:ext cx="1160616" cy="144318"/>
          </a:xfrm>
          <a:prstGeom prst="line">
            <a:avLst/>
          </a:prstGeom>
          <a:noFill/>
          <a:ln w="15875">
            <a:solidFill>
              <a:srgbClr val="0E6A8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946274" y="3604029"/>
            <a:ext cx="0" cy="369455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033342" y="3384665"/>
            <a:ext cx="2122269" cy="808182"/>
          </a:xfrm>
          <a:prstGeom prst="roundRect">
            <a:avLst>
              <a:gd name="adj" fmla="val 6789"/>
            </a:avLst>
          </a:prstGeom>
          <a:solidFill>
            <a:srgbClr val="15202A"/>
          </a:solidFill>
          <a:ln w="12700">
            <a:solidFill>
              <a:srgbClr val="152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drone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(system of interest)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81543" y="1491211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(EASA, DGAC)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07961" y="1491211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traffic management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(UTM / U-space)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34379" y="1491211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60797" y="1491211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environment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487215" y="1491211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airspace users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(helicopters, drones)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813633" y="1491211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parties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residents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181543" y="5647575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507961" y="5647575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constellation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(GPS, Galileo)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34379" y="5647575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 / 5G network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60797" y="5647575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supervision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(telepilot)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487215" y="5647575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operator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813633" y="5647575"/>
            <a:ext cx="1193776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zone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 locker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181543" y="6305665"/>
            <a:ext cx="1193776" cy="277091"/>
          </a:xfrm>
          <a:prstGeom prst="roundRect">
            <a:avLst>
              <a:gd name="adj" fmla="val 19800"/>
            </a:avLst>
          </a:prstGeom>
          <a:solidFill>
            <a:srgbClr val="FFFFFF"/>
          </a:solidFill>
          <a:ln w="12700">
            <a:solidFill>
              <a:srgbClr val="7C8891"/>
            </a:solidFill>
            <a:prstDash val="dash"/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grid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612629" y="3280756"/>
            <a:ext cx="1260097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2E7D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(warehouse operator)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612629" y="3973484"/>
            <a:ext cx="1260097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2E7D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platform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22484" y="3996575"/>
            <a:ext cx="1193776" cy="277091"/>
          </a:xfrm>
          <a:prstGeom prst="roundRect">
            <a:avLst>
              <a:gd name="adj" fmla="val 19800"/>
            </a:avLst>
          </a:prstGeom>
          <a:solidFill>
            <a:srgbClr val="FFFFFF"/>
          </a:solidFill>
          <a:ln w="12700">
            <a:solidFill>
              <a:srgbClr val="7C8891"/>
            </a:solidFill>
            <a:prstDash val="dash"/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316226" y="3280756"/>
            <a:ext cx="1260097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316226" y="3973484"/>
            <a:ext cx="1260097" cy="323273"/>
          </a:xfrm>
          <a:prstGeom prst="roundRect">
            <a:avLst>
              <a:gd name="adj" fmla="val 16971"/>
            </a:avLst>
          </a:prstGeom>
          <a:solidFill>
            <a:srgbClr val="FFFFFF"/>
          </a:solidFill>
          <a:ln w="22225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3092669" y="2233353"/>
            <a:ext cx="10693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Laws, standards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(EU 2019/947, U-space)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4080850" y="2233353"/>
            <a:ext cx="10693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authorizations,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areas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5091256" y="2233353"/>
            <a:ext cx="10248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rain,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6072806" y="2233353"/>
            <a:ext cx="10248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Obstacles (buildings,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trees, cables, birds)</a:t>
            </a:r>
            <a:endParaRPr lang="en-US" sz="700" dirty="0"/>
          </a:p>
        </p:txBody>
      </p:sp>
      <p:sp>
        <p:nvSpPr>
          <p:cNvPr id="47" name="Text 45"/>
          <p:cNvSpPr txBox="1"/>
          <p:nvPr/>
        </p:nvSpPr>
        <p:spPr>
          <a:xfrm>
            <a:off x="7194337" y="2233353"/>
            <a:ext cx="7581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 risk,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ID</a:t>
            </a:r>
            <a:endParaRPr lang="en-US" sz="700" dirty="0"/>
          </a:p>
        </p:txBody>
      </p:sp>
      <p:sp>
        <p:nvSpPr>
          <p:cNvPr id="48" name="Text 46"/>
          <p:cNvSpPr txBox="1"/>
          <p:nvPr/>
        </p:nvSpPr>
        <p:spPr>
          <a:xfrm>
            <a:off x="8138068" y="2233353"/>
            <a:ext cx="8470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fall risk,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3337144" y="5063375"/>
            <a:ext cx="58039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4169750" y="5063375"/>
            <a:ext cx="89154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signal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5202381" y="5010035"/>
            <a:ext cx="8026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(telemetry,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commands)</a:t>
            </a:r>
            <a:endParaRPr lang="en-US" sz="700" dirty="0"/>
          </a:p>
        </p:txBody>
      </p:sp>
      <p:sp>
        <p:nvSpPr>
          <p:cNvPr id="52" name="Text 50"/>
          <p:cNvSpPr txBox="1"/>
          <p:nvPr/>
        </p:nvSpPr>
        <p:spPr>
          <a:xfrm>
            <a:off x="6161706" y="5010035"/>
            <a:ext cx="8470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commands,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7016537" y="5010035"/>
            <a:ext cx="11137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operations,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endParaRPr lang="en-US" sz="700" dirty="0"/>
          </a:p>
        </p:txBody>
      </p:sp>
      <p:sp>
        <p:nvSpPr>
          <p:cNvPr id="54" name="Text 52"/>
          <p:cNvSpPr txBox="1"/>
          <p:nvPr/>
        </p:nvSpPr>
        <p:spPr>
          <a:xfrm>
            <a:off x="8249193" y="5010035"/>
            <a:ext cx="6248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or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surface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2488236" y="6062056"/>
            <a:ext cx="58039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4007264" y="3385012"/>
            <a:ext cx="8915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(loading, returns)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4051714" y="3933421"/>
            <a:ext cx="8026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order 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status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2085374" y="4005580"/>
            <a:ext cx="3581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7290148" y="3385012"/>
            <a:ext cx="8915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package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(returned package)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7179023" y="3933421"/>
            <a:ext cx="11137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Notification, pickup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proof of delivery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8811654" y="3712556"/>
            <a:ext cx="26924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</a:t>
            </a:r>
            <a:endParaRPr lang="en-US" sz="700" dirty="0"/>
          </a:p>
        </p:txBody>
      </p:sp>
      <p:sp>
        <p:nvSpPr>
          <p:cNvPr id="62" name="Text 60"/>
          <p:cNvSpPr txBox="1"/>
          <p:nvPr/>
        </p:nvSpPr>
        <p:spPr>
          <a:xfrm>
            <a:off x="4722876" y="1076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871078" y="2987733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INPUTS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574674" y="2987733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OUTPUTS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722876" y="604727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6625043" y="6530802"/>
            <a:ext cx="185699" cy="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7" name="Text 65"/>
          <p:cNvSpPr txBox="1"/>
          <p:nvPr/>
        </p:nvSpPr>
        <p:spPr>
          <a:xfrm>
            <a:off x="6850534" y="643936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inputs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7744540" y="6530802"/>
            <a:ext cx="185699" cy="0"/>
          </a:xfrm>
          <a:prstGeom prst="line">
            <a:avLst/>
          </a:prstGeom>
          <a:noFill/>
          <a:ln w="15875">
            <a:solidFill>
              <a:srgbClr val="0E6A86"/>
            </a:solidFill>
            <a:prstDash val="solid"/>
            <a:tailEnd type="triangle"/>
          </a:ln>
        </p:spPr>
      </p:sp>
      <p:sp>
        <p:nvSpPr>
          <p:cNvPr id="69" name="Text 67"/>
          <p:cNvSpPr txBox="1"/>
          <p:nvPr/>
        </p:nvSpPr>
        <p:spPr>
          <a:xfrm>
            <a:off x="7970031" y="643936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outputs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8907808" y="6530802"/>
            <a:ext cx="185699" cy="0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71" name="Text 69"/>
          <p:cNvSpPr txBox="1"/>
          <p:nvPr/>
        </p:nvSpPr>
        <p:spPr>
          <a:xfrm>
            <a:off x="9133299" y="643936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9633359" y="6530802"/>
            <a:ext cx="185699" cy="0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73" name="Text 71"/>
          <p:cNvSpPr txBox="1"/>
          <p:nvPr/>
        </p:nvSpPr>
        <p:spPr>
          <a:xfrm>
            <a:off x="9858850" y="643936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446453" y="6530802"/>
            <a:ext cx="185699" cy="0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  <a:tailEnd type="triangle"/>
          </a:ln>
        </p:spPr>
      </p:sp>
      <p:sp>
        <p:nvSpPr>
          <p:cNvPr id="75" name="Text 73"/>
          <p:cNvSpPr txBox="1"/>
          <p:nvPr/>
        </p:nvSpPr>
        <p:spPr>
          <a:xfrm>
            <a:off x="10671944" y="643936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external system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breakdown structure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503920" y="27432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view · Behavioral analysis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1257710" y="2058534"/>
            <a:ext cx="4836766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710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1566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1566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1566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1566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1566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1566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1566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1566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639643" y="2058534"/>
            <a:ext cx="3454833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39643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83499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83499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83499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83499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83499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83499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83499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83499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83499" y="2784008"/>
            <a:ext cx="0" cy="241220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83499" y="519621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83499" y="2784008"/>
            <a:ext cx="0" cy="2901898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83499" y="568590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83499" y="2784008"/>
            <a:ext cx="0" cy="339159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83499" y="6175601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4021576" y="2058534"/>
            <a:ext cx="2072900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21576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65432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65432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65432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65432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65432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65432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5432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65432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65432" y="2784008"/>
            <a:ext cx="0" cy="241220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65432" y="519621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65432" y="2784008"/>
            <a:ext cx="0" cy="2901898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465432" y="568590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>
            <a:off x="5403509" y="2058534"/>
            <a:ext cx="690967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03509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47366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7366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47366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47366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47366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47366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47366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47366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7366" y="2784008"/>
            <a:ext cx="0" cy="241220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7366" y="519621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094476" y="2058534"/>
            <a:ext cx="690967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85443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9299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29299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29299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229299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9299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29299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29299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229299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29299" y="2784008"/>
            <a:ext cx="0" cy="241220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29299" y="519621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29299" y="2784008"/>
            <a:ext cx="0" cy="2901898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29299" y="568590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94476" y="2058534"/>
            <a:ext cx="2072900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67376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611232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611232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611232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11232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611232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611232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11232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611232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094476" y="2058534"/>
            <a:ext cx="3454833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549309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993165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993165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993165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993165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993165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993165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93165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93165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993165" y="2784008"/>
            <a:ext cx="0" cy="241220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993165" y="519621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993165" y="2784008"/>
            <a:ext cx="0" cy="2901898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993165" y="568590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094476" y="1732070"/>
            <a:ext cx="0" cy="326463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094476" y="2058534"/>
            <a:ext cx="4836766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931242" y="2058534"/>
            <a:ext cx="0" cy="253916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375098" y="2784008"/>
            <a:ext cx="0" cy="453421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375098" y="3237429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375098" y="2784008"/>
            <a:ext cx="0" cy="94311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375098" y="372712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375098" y="2784008"/>
            <a:ext cx="0" cy="1432812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375098" y="4216820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375098" y="2784008"/>
            <a:ext cx="0" cy="1922507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0375098" y="4706515"/>
            <a:ext cx="92691" cy="0"/>
          </a:xfrm>
          <a:prstGeom prst="line">
            <a:avLst/>
          </a:prstGeom>
          <a:noFill/>
          <a:ln w="12700">
            <a:solidFill>
              <a:srgbClr val="1F6FA3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77720" y="1260512"/>
            <a:ext cx="3033512" cy="471558"/>
          </a:xfrm>
          <a:prstGeom prst="roundRect">
            <a:avLst>
              <a:gd name="adj" fmla="val 11635"/>
            </a:avLst>
          </a:prstGeom>
          <a:solidFill>
            <a:srgbClr val="00587C"/>
          </a:solidFill>
          <a:ln w="12700">
            <a:solidFill>
              <a:srgbClr val="00587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drone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625728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Manage the mission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794257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Receive the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order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794257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Plan the route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794257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Obtain flight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794257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Track and report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status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2007662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Handle the package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2176190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Accept and lock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2176190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Measure the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mass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2176190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Hold the package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2176190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Authenticate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recipient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2176190" y="4996705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Deliver the package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recipient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2176190" y="548640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 Provide proof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delivery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2176190" y="5976095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 Handle returns and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undelivered packages</a:t>
            </a:r>
            <a:endParaRPr lang="en-US" sz="750" dirty="0"/>
          </a:p>
        </p:txBody>
      </p:sp>
      <p:sp>
        <p:nvSpPr>
          <p:cNvPr id="127" name="Text 125"/>
          <p:cNvSpPr/>
          <p:nvPr/>
        </p:nvSpPr>
        <p:spPr>
          <a:xfrm>
            <a:off x="3389595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Move through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3558123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Generate thrust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3558123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Control attitude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3558123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Take off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3558123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Hover in place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3558123" y="4996705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 Land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3558123" y="548640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 Withstand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loads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4771528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Navigate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4940056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Determine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position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4940056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Perceive the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750" dirty="0"/>
          </a:p>
        </p:txBody>
      </p:sp>
      <p:sp>
        <p:nvSpPr>
          <p:cNvPr id="137" name="Text 135"/>
          <p:cNvSpPr/>
          <p:nvPr/>
        </p:nvSpPr>
        <p:spPr>
          <a:xfrm>
            <a:off x="4940056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Detect and avoid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obstacles, aircraft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4940056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 Follow the route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4940056" y="4996705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 Identify and check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 zone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6153461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Communicate</a:t>
            </a:r>
            <a:endParaRPr lang="en-US" sz="900" dirty="0"/>
          </a:p>
        </p:txBody>
      </p:sp>
      <p:sp>
        <p:nvSpPr>
          <p:cNvPr id="141" name="Text 139"/>
          <p:cNvSpPr/>
          <p:nvPr/>
        </p:nvSpPr>
        <p:spPr>
          <a:xfrm>
            <a:off x="6321989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Exchange with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telepilot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6321989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 Exchange with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U-space (UTM)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6321989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 Interact with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recipient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6321989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 Identify itself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remotely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6321989" y="4996705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  Be visible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audible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6321989" y="548640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  Secure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7535394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Manage energy</a:t>
            </a:r>
            <a:endParaRPr lang="en-US" sz="900" dirty="0"/>
          </a:p>
        </p:txBody>
      </p:sp>
      <p:sp>
        <p:nvSpPr>
          <p:cNvPr id="148" name="Text 146"/>
          <p:cNvSpPr/>
          <p:nvPr/>
        </p:nvSpPr>
        <p:spPr>
          <a:xfrm>
            <a:off x="7703923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 Receive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energy</a:t>
            </a:r>
            <a:endParaRPr lang="en-US" sz="750" dirty="0"/>
          </a:p>
        </p:txBody>
      </p:sp>
      <p:sp>
        <p:nvSpPr>
          <p:cNvPr id="149" name="Text 147"/>
          <p:cNvSpPr/>
          <p:nvPr/>
        </p:nvSpPr>
        <p:spPr>
          <a:xfrm>
            <a:off x="7703923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 Store energy</a:t>
            </a:r>
            <a:endParaRPr lang="en-US" sz="750" dirty="0"/>
          </a:p>
        </p:txBody>
      </p:sp>
      <p:sp>
        <p:nvSpPr>
          <p:cNvPr id="150" name="Text 148"/>
          <p:cNvSpPr/>
          <p:nvPr/>
        </p:nvSpPr>
        <p:spPr>
          <a:xfrm>
            <a:off x="7703923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 Monitor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state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7703923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 Distribute energy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8917327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  Ensure safety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9085856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 Monitor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health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9085856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 Respect flight zones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(geofencing)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9085856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 Manage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modes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9085856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  Limit the severity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fall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9085856" y="4996705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 Withstand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weather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9085856" y="548640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  Limit nuisance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(noise, privacy)</a:t>
            </a:r>
            <a:endParaRPr lang="en-US" sz="750" dirty="0"/>
          </a:p>
        </p:txBody>
      </p:sp>
      <p:sp>
        <p:nvSpPr>
          <p:cNvPr id="159" name="Text 157"/>
          <p:cNvSpPr/>
          <p:nvPr/>
        </p:nvSpPr>
        <p:spPr>
          <a:xfrm>
            <a:off x="10299260" y="2312450"/>
            <a:ext cx="1263963" cy="471558"/>
          </a:xfrm>
          <a:prstGeom prst="roundRect">
            <a:avLst>
              <a:gd name="adj" fmla="val 11635"/>
            </a:avLst>
          </a:prstGeom>
          <a:solidFill>
            <a:srgbClr val="E1002A"/>
          </a:solidFill>
          <a:ln w="12700">
            <a:solidFill>
              <a:srgbClr val="E10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  Enable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900" dirty="0"/>
          </a:p>
        </p:txBody>
      </p:sp>
      <p:sp>
        <p:nvSpPr>
          <p:cNvPr id="160" name="Text 158"/>
          <p:cNvSpPr/>
          <p:nvPr/>
        </p:nvSpPr>
        <p:spPr>
          <a:xfrm>
            <a:off x="10467789" y="303792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 Record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data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10467789" y="3527619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 Diagnose failures</a:t>
            </a:r>
            <a:endParaRPr lang="en-US" sz="750" dirty="0"/>
          </a:p>
        </p:txBody>
      </p:sp>
      <p:sp>
        <p:nvSpPr>
          <p:cNvPr id="162" name="Text 160"/>
          <p:cNvSpPr/>
          <p:nvPr/>
        </p:nvSpPr>
        <p:spPr>
          <a:xfrm>
            <a:off x="10467789" y="4017314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 Update software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10467789" y="4507010"/>
            <a:ext cx="1095435" cy="399011"/>
          </a:xfrm>
          <a:prstGeom prst="roundRect">
            <a:avLst>
              <a:gd name="adj" fmla="val 13750"/>
            </a:avLst>
          </a:prstGeom>
          <a:solidFill>
            <a:srgbClr val="9E3200"/>
          </a:solidFill>
          <a:ln w="12700">
            <a:solidFill>
              <a:srgbClr val="9E32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 Allow module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check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27432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flows → functions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4297680"/>
                <a:gridCol w="24963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actor / 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with the drone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 by functions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Laws, standards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5.4, 7.2, 7.4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UTM / U-space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authorizations, restricted areas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1.3, 5.2, 7.2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rain, temperature, humidity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3.2, 7.5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environment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4.2, 4.3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airspace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Collision risk, Remote 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4.3, 5.4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 parties / local residents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Noise, fall risk, privacy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5.5, 7.4, 7.6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(loading, returns)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2.1, 2.2, 2.7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 ordering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order / delivery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1.1, 1.4, 2.6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package (returned package)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2.5, 2.7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Recipient's smartphone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Notification, pickup code, proof of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2.4, 2.6, 5.3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GNSS constellation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Positioning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4G / 5G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(telemetry, commands)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5.1, 5.6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supervision 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commands, takeover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5.1, 7.3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operations, diagnostics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8.1, 8.2, 8.3, 8.4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zone / parcel locker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 or drop surface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2.5, 3.5, 4.5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1722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direct interactions are covered by at least one sub-function. Secondary systems (customer, energy grid) have no direct exchange with the drone.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drone - MBSE case study</dc:title>
  <dc:subject>PptxGenJS Presentation</dc:subject>
  <dc:creator>PptxGenJS</dc:creator>
  <cp:lastModifiedBy>PptxGenJS</cp:lastModifiedBy>
  <cp:revision>1</cp:revision>
  <dcterms:created xsi:type="dcterms:W3CDTF">2026-09-25T08:13:22Z</dcterms:created>
  <dcterms:modified xsi:type="dcterms:W3CDTF">2026-09-25T08:13:22Z</dcterms:modified>
</cp:coreProperties>
</file>