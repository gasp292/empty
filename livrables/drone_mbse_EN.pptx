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 drone as a black box. 18 external actors and systems (2 secondary), grouped in the four categories of the course: constraints, structuring inputs, structuring outputs,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 is the mission. 8 level-1 functions and 42 level-2 sub-functions. Every function starts with an action verb and names no technology.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analysis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503920" y="27432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view · Environment diagram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78431" y="1652108"/>
            <a:ext cx="2420713" cy="1607866"/>
          </a:xfrm>
          <a:prstGeom prst="line">
            <a:avLst/>
          </a:prstGeom>
          <a:noFill/>
          <a:ln w="15875">
            <a:solidFill>
              <a:srgbClr val="B0413E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4104849" y="1652108"/>
            <a:ext cx="1452428" cy="1607866"/>
          </a:xfrm>
          <a:prstGeom prst="line">
            <a:avLst/>
          </a:prstGeom>
          <a:noFill/>
          <a:ln w="15875">
            <a:solidFill>
              <a:srgbClr val="B0413E"/>
            </a:solidFill>
            <a:prstDash val="solid"/>
            <a:headEnd type="triangl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5431267" y="1652108"/>
            <a:ext cx="484143" cy="1607866"/>
          </a:xfrm>
          <a:prstGeom prst="line">
            <a:avLst/>
          </a:prstGeom>
          <a:noFill/>
          <a:ln w="15875">
            <a:solidFill>
              <a:srgbClr val="B0413E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H="1">
            <a:off x="6273542" y="1652108"/>
            <a:ext cx="484143" cy="1607866"/>
          </a:xfrm>
          <a:prstGeom prst="line">
            <a:avLst/>
          </a:prstGeom>
          <a:noFill/>
          <a:ln w="15875">
            <a:solidFill>
              <a:srgbClr val="B0413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6631675" y="1652108"/>
            <a:ext cx="1452428" cy="1607866"/>
          </a:xfrm>
          <a:prstGeom prst="line">
            <a:avLst/>
          </a:prstGeom>
          <a:noFill/>
          <a:ln w="15875">
            <a:solidFill>
              <a:srgbClr val="B0413E"/>
            </a:solidFill>
            <a:prstDash val="solid"/>
            <a:headEnd type="triangle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6989808" y="1652108"/>
            <a:ext cx="2420713" cy="1607866"/>
          </a:xfrm>
          <a:prstGeom prst="line">
            <a:avLst/>
          </a:prstGeom>
          <a:noFill/>
          <a:ln w="15875">
            <a:solidFill>
              <a:srgbClr val="B0413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V="1">
            <a:off x="2778431" y="4087553"/>
            <a:ext cx="2420713" cy="1489641"/>
          </a:xfrm>
          <a:prstGeom prst="line">
            <a:avLst/>
          </a:prstGeom>
          <a:noFill/>
          <a:ln w="15875">
            <a:solidFill>
              <a:srgbClr val="B07A1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 flipV="1">
            <a:off x="4104849" y="4087553"/>
            <a:ext cx="1452428" cy="1489641"/>
          </a:xfrm>
          <a:prstGeom prst="line">
            <a:avLst/>
          </a:prstGeom>
          <a:noFill/>
          <a:ln w="15875">
            <a:solidFill>
              <a:srgbClr val="B07A1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V="1">
            <a:off x="5431267" y="4087553"/>
            <a:ext cx="484143" cy="1489641"/>
          </a:xfrm>
          <a:prstGeom prst="line">
            <a:avLst/>
          </a:prstGeom>
          <a:noFill/>
          <a:ln w="15875">
            <a:solidFill>
              <a:srgbClr val="B07A12"/>
            </a:solidFill>
            <a:prstDash val="solid"/>
            <a:headEnd type="triangle"/>
            <a:tailEnd type="triangle"/>
          </a:ln>
        </p:spPr>
      </p:sp>
      <p:sp>
        <p:nvSpPr>
          <p:cNvPr id="13" name="Shape 11"/>
          <p:cNvSpPr/>
          <p:nvPr/>
        </p:nvSpPr>
        <p:spPr>
          <a:xfrm flipH="1" flipV="1">
            <a:off x="6273542" y="4087553"/>
            <a:ext cx="484143" cy="1489641"/>
          </a:xfrm>
          <a:prstGeom prst="line">
            <a:avLst/>
          </a:prstGeom>
          <a:noFill/>
          <a:ln w="15875">
            <a:solidFill>
              <a:srgbClr val="B07A12"/>
            </a:solidFill>
            <a:prstDash val="solid"/>
            <a:headEnd type="triangle"/>
            <a:tailEnd type="triangle"/>
          </a:ln>
        </p:spPr>
      </p:sp>
      <p:sp>
        <p:nvSpPr>
          <p:cNvPr id="14" name="Shape 12"/>
          <p:cNvSpPr/>
          <p:nvPr/>
        </p:nvSpPr>
        <p:spPr>
          <a:xfrm flipH="1" flipV="1">
            <a:off x="6631675" y="4087553"/>
            <a:ext cx="1452428" cy="1489641"/>
          </a:xfrm>
          <a:prstGeom prst="line">
            <a:avLst/>
          </a:prstGeom>
          <a:noFill/>
          <a:ln w="15875">
            <a:solidFill>
              <a:srgbClr val="B07A12"/>
            </a:solidFill>
            <a:prstDash val="solid"/>
            <a:headEnd type="triangle"/>
            <a:tailEnd type="triangle"/>
          </a:ln>
        </p:spPr>
      </p:sp>
      <p:sp>
        <p:nvSpPr>
          <p:cNvPr id="15" name="Shape 13"/>
          <p:cNvSpPr/>
          <p:nvPr/>
        </p:nvSpPr>
        <p:spPr>
          <a:xfrm flipH="1" flipV="1">
            <a:off x="6989808" y="4087553"/>
            <a:ext cx="2420713" cy="1489641"/>
          </a:xfrm>
          <a:prstGeom prst="line">
            <a:avLst/>
          </a:prstGeom>
          <a:noFill/>
          <a:ln w="15875">
            <a:solidFill>
              <a:srgbClr val="B07A1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778431" y="5908225"/>
            <a:ext cx="0" cy="342854"/>
          </a:xfrm>
          <a:prstGeom prst="line">
            <a:avLst/>
          </a:prstGeom>
          <a:noFill/>
          <a:ln w="15875">
            <a:solidFill>
              <a:srgbClr val="7C8891"/>
            </a:solidFill>
            <a:prstDash val="dash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872726" y="3319087"/>
            <a:ext cx="1160616" cy="147782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  <a:headEnd type="triangle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872726" y="3880658"/>
            <a:ext cx="1160616" cy="147782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  <a:headEnd type="triangl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916260" y="4028440"/>
            <a:ext cx="696369" cy="0"/>
          </a:xfrm>
          <a:prstGeom prst="line">
            <a:avLst/>
          </a:prstGeom>
          <a:noFill/>
          <a:ln w="15875">
            <a:solidFill>
              <a:srgbClr val="7C8891"/>
            </a:solidFill>
            <a:prstDash val="dash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155610" y="3319087"/>
            <a:ext cx="1160616" cy="147782"/>
          </a:xfrm>
          <a:prstGeom prst="line">
            <a:avLst/>
          </a:prstGeom>
          <a:noFill/>
          <a:ln w="15875">
            <a:solidFill>
              <a:srgbClr val="0E6A86"/>
            </a:solidFill>
            <a:prstDash val="solid"/>
            <a:headEnd type="triangl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155610" y="3880658"/>
            <a:ext cx="1160616" cy="147782"/>
          </a:xfrm>
          <a:prstGeom prst="line">
            <a:avLst/>
          </a:prstGeom>
          <a:noFill/>
          <a:ln w="15875">
            <a:solidFill>
              <a:srgbClr val="0E6A86"/>
            </a:solidFill>
            <a:prstDash val="solid"/>
            <a:headEnd type="triangl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946274" y="3484603"/>
            <a:ext cx="0" cy="378321"/>
          </a:xfrm>
          <a:prstGeom prst="line">
            <a:avLst/>
          </a:prstGeom>
          <a:noFill/>
          <a:ln w="15875">
            <a:solidFill>
              <a:srgbClr val="7C8891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033342" y="3259975"/>
            <a:ext cx="2122269" cy="827578"/>
          </a:xfrm>
          <a:prstGeom prst="roundRect">
            <a:avLst>
              <a:gd name="adj" fmla="val 6629"/>
            </a:avLst>
          </a:prstGeom>
          <a:solidFill>
            <a:srgbClr val="15202A"/>
          </a:solidFill>
          <a:ln w="12700">
            <a:solidFill>
              <a:srgbClr val="15202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drone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(system of interest)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181543" y="1321077"/>
            <a:ext cx="1193776" cy="331031"/>
          </a:xfrm>
          <a:prstGeom prst="roundRect">
            <a:avLst>
              <a:gd name="adj" fmla="val 16574"/>
            </a:avLst>
          </a:prstGeom>
          <a:solidFill>
            <a:srgbClr val="FFFFFF"/>
          </a:solidFill>
          <a:ln w="22225">
            <a:solidFill>
              <a:srgbClr val="B0413E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(EASA, DGAC)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507961" y="1321077"/>
            <a:ext cx="1193776" cy="331031"/>
          </a:xfrm>
          <a:prstGeom prst="roundRect">
            <a:avLst>
              <a:gd name="adj" fmla="val 16574"/>
            </a:avLst>
          </a:prstGeom>
          <a:solidFill>
            <a:srgbClr val="FFFFFF"/>
          </a:solidFill>
          <a:ln w="22225">
            <a:solidFill>
              <a:srgbClr val="B0413E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traffic management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(UTM / U-space)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34379" y="1321077"/>
            <a:ext cx="1193776" cy="331031"/>
          </a:xfrm>
          <a:prstGeom prst="roundRect">
            <a:avLst>
              <a:gd name="adj" fmla="val 16574"/>
            </a:avLst>
          </a:prstGeom>
          <a:solidFill>
            <a:srgbClr val="FFFFFF"/>
          </a:solidFill>
          <a:ln w="22225">
            <a:solidFill>
              <a:srgbClr val="B0413E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160797" y="1321077"/>
            <a:ext cx="1193776" cy="331031"/>
          </a:xfrm>
          <a:prstGeom prst="roundRect">
            <a:avLst>
              <a:gd name="adj" fmla="val 16574"/>
            </a:avLst>
          </a:prstGeom>
          <a:solidFill>
            <a:srgbClr val="FFFFFF"/>
          </a:solidFill>
          <a:ln w="22225">
            <a:solidFill>
              <a:srgbClr val="B0413E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environment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487215" y="1321077"/>
            <a:ext cx="1193776" cy="331031"/>
          </a:xfrm>
          <a:prstGeom prst="roundRect">
            <a:avLst>
              <a:gd name="adj" fmla="val 16574"/>
            </a:avLst>
          </a:prstGeom>
          <a:solidFill>
            <a:srgbClr val="FFFFFF"/>
          </a:solidFill>
          <a:ln w="22225">
            <a:solidFill>
              <a:srgbClr val="B0413E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airspace users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(helicopters, drones)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813633" y="1321077"/>
            <a:ext cx="1193776" cy="331031"/>
          </a:xfrm>
          <a:prstGeom prst="roundRect">
            <a:avLst>
              <a:gd name="adj" fmla="val 16574"/>
            </a:avLst>
          </a:prstGeom>
          <a:solidFill>
            <a:srgbClr val="FFFFFF"/>
          </a:solidFill>
          <a:ln w="22225">
            <a:solidFill>
              <a:srgbClr val="B0413E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parties /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residents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181543" y="5577193"/>
            <a:ext cx="1193776" cy="331031"/>
          </a:xfrm>
          <a:prstGeom prst="roundRect">
            <a:avLst>
              <a:gd name="adj" fmla="val 16574"/>
            </a:avLst>
          </a:prstGeom>
          <a:solidFill>
            <a:srgbClr val="FFFFFF"/>
          </a:solidFill>
          <a:ln w="22225">
            <a:solidFill>
              <a:srgbClr val="B07A1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station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507961" y="5577193"/>
            <a:ext cx="1193776" cy="331031"/>
          </a:xfrm>
          <a:prstGeom prst="roundRect">
            <a:avLst>
              <a:gd name="adj" fmla="val 16574"/>
            </a:avLst>
          </a:prstGeom>
          <a:solidFill>
            <a:srgbClr val="FFFFFF"/>
          </a:solidFill>
          <a:ln w="22225">
            <a:solidFill>
              <a:srgbClr val="B07A1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constellation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(GPS, Galileo)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834379" y="5577193"/>
            <a:ext cx="1193776" cy="331031"/>
          </a:xfrm>
          <a:prstGeom prst="roundRect">
            <a:avLst>
              <a:gd name="adj" fmla="val 16574"/>
            </a:avLst>
          </a:prstGeom>
          <a:solidFill>
            <a:srgbClr val="FFFFFF"/>
          </a:solidFill>
          <a:ln w="22225">
            <a:solidFill>
              <a:srgbClr val="B07A1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4G / 5G network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160797" y="5577193"/>
            <a:ext cx="1193776" cy="331031"/>
          </a:xfrm>
          <a:prstGeom prst="roundRect">
            <a:avLst>
              <a:gd name="adj" fmla="val 16574"/>
            </a:avLst>
          </a:prstGeom>
          <a:solidFill>
            <a:srgbClr val="FFFFFF"/>
          </a:solidFill>
          <a:ln w="22225">
            <a:solidFill>
              <a:srgbClr val="B07A1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supervision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(telepilot)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487215" y="5577193"/>
            <a:ext cx="1193776" cy="331031"/>
          </a:xfrm>
          <a:prstGeom prst="roundRect">
            <a:avLst>
              <a:gd name="adj" fmla="val 16574"/>
            </a:avLst>
          </a:prstGeom>
          <a:solidFill>
            <a:srgbClr val="FFFFFF"/>
          </a:solidFill>
          <a:ln w="22225">
            <a:solidFill>
              <a:srgbClr val="B07A1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operator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813633" y="5577193"/>
            <a:ext cx="1193776" cy="331031"/>
          </a:xfrm>
          <a:prstGeom prst="roundRect">
            <a:avLst>
              <a:gd name="adj" fmla="val 16574"/>
            </a:avLst>
          </a:prstGeom>
          <a:solidFill>
            <a:srgbClr val="FFFFFF"/>
          </a:solidFill>
          <a:ln w="22225">
            <a:solidFill>
              <a:srgbClr val="B07A1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zone /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 locker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181543" y="6251079"/>
            <a:ext cx="1193776" cy="283741"/>
          </a:xfrm>
          <a:prstGeom prst="roundRect">
            <a:avLst>
              <a:gd name="adj" fmla="val 19336"/>
            </a:avLst>
          </a:prstGeom>
          <a:solidFill>
            <a:srgbClr val="FFFFFF"/>
          </a:solidFill>
          <a:ln w="12700">
            <a:solidFill>
              <a:srgbClr val="7C8891"/>
            </a:solidFill>
            <a:prstDash val="dash"/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grid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612629" y="3153572"/>
            <a:ext cx="1260097" cy="331031"/>
          </a:xfrm>
          <a:prstGeom prst="roundRect">
            <a:avLst>
              <a:gd name="adj" fmla="val 16574"/>
            </a:avLst>
          </a:prstGeom>
          <a:solidFill>
            <a:srgbClr val="FFFFFF"/>
          </a:solidFill>
          <a:ln w="22225">
            <a:solidFill>
              <a:srgbClr val="2E7D4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(warehouse operator)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612629" y="3862924"/>
            <a:ext cx="1260097" cy="331031"/>
          </a:xfrm>
          <a:prstGeom prst="roundRect">
            <a:avLst>
              <a:gd name="adj" fmla="val 16574"/>
            </a:avLst>
          </a:prstGeom>
          <a:solidFill>
            <a:srgbClr val="FFFFFF"/>
          </a:solidFill>
          <a:ln w="22225">
            <a:solidFill>
              <a:srgbClr val="2E7D4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platform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22484" y="3886569"/>
            <a:ext cx="1193776" cy="283741"/>
          </a:xfrm>
          <a:prstGeom prst="roundRect">
            <a:avLst>
              <a:gd name="adj" fmla="val 19336"/>
            </a:avLst>
          </a:prstGeom>
          <a:solidFill>
            <a:srgbClr val="FFFFFF"/>
          </a:solidFill>
          <a:ln w="12700">
            <a:solidFill>
              <a:srgbClr val="7C8891"/>
            </a:solidFill>
            <a:prstDash val="dash"/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8316226" y="3153572"/>
            <a:ext cx="1260097" cy="331031"/>
          </a:xfrm>
          <a:prstGeom prst="roundRect">
            <a:avLst>
              <a:gd name="adj" fmla="val 16574"/>
            </a:avLst>
          </a:prstGeom>
          <a:solidFill>
            <a:srgbClr val="FFFFFF"/>
          </a:solidFill>
          <a:ln w="22225">
            <a:solidFill>
              <a:srgbClr val="0E6A8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8316226" y="3862924"/>
            <a:ext cx="1260097" cy="331031"/>
          </a:xfrm>
          <a:prstGeom prst="roundRect">
            <a:avLst>
              <a:gd name="adj" fmla="val 16574"/>
            </a:avLst>
          </a:prstGeom>
          <a:solidFill>
            <a:srgbClr val="FFFFFF"/>
          </a:solidFill>
          <a:ln w="22225">
            <a:solidFill>
              <a:srgbClr val="0E6A8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Recipient's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092669" y="2084139"/>
            <a:ext cx="106934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Laws, standards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(EU 2019/947, U-space)</a:t>
            </a:r>
            <a:endParaRPr lang="en-US" sz="700" dirty="0"/>
          </a:p>
        </p:txBody>
      </p:sp>
      <p:sp>
        <p:nvSpPr>
          <p:cNvPr id="43" name="Text 41"/>
          <p:cNvSpPr txBox="1"/>
          <p:nvPr/>
        </p:nvSpPr>
        <p:spPr>
          <a:xfrm>
            <a:off x="4080850" y="2084139"/>
            <a:ext cx="106934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authorizations,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areas</a:t>
            </a:r>
            <a:endParaRPr lang="en-US" sz="700" dirty="0"/>
          </a:p>
        </p:txBody>
      </p:sp>
      <p:sp>
        <p:nvSpPr>
          <p:cNvPr id="44" name="Text 42"/>
          <p:cNvSpPr txBox="1"/>
          <p:nvPr/>
        </p:nvSpPr>
        <p:spPr>
          <a:xfrm>
            <a:off x="5091256" y="2084139"/>
            <a:ext cx="102489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Wind, rain,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humidity</a:t>
            </a:r>
            <a:endParaRPr lang="en-US" sz="700" dirty="0"/>
          </a:p>
        </p:txBody>
      </p:sp>
      <p:sp>
        <p:nvSpPr>
          <p:cNvPr id="45" name="Text 43"/>
          <p:cNvSpPr txBox="1"/>
          <p:nvPr/>
        </p:nvSpPr>
        <p:spPr>
          <a:xfrm>
            <a:off x="6072806" y="2084139"/>
            <a:ext cx="102489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Obstacles (buildings,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trees, cables, birds)</a:t>
            </a:r>
            <a:endParaRPr lang="en-US" sz="700" dirty="0"/>
          </a:p>
        </p:txBody>
      </p:sp>
      <p:sp>
        <p:nvSpPr>
          <p:cNvPr id="46" name="Text 44"/>
          <p:cNvSpPr txBox="1"/>
          <p:nvPr/>
        </p:nvSpPr>
        <p:spPr>
          <a:xfrm>
            <a:off x="7194337" y="2084139"/>
            <a:ext cx="75819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 risk,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ID</a:t>
            </a:r>
            <a:endParaRPr lang="en-US" sz="700" dirty="0"/>
          </a:p>
        </p:txBody>
      </p:sp>
      <p:sp>
        <p:nvSpPr>
          <p:cNvPr id="47" name="Text 45"/>
          <p:cNvSpPr txBox="1"/>
          <p:nvPr/>
        </p:nvSpPr>
        <p:spPr>
          <a:xfrm>
            <a:off x="8138068" y="2084139"/>
            <a:ext cx="84709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Noise, fall risk,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700" dirty="0"/>
          </a:p>
        </p:txBody>
      </p:sp>
      <p:sp>
        <p:nvSpPr>
          <p:cNvPr id="48" name="Text 46"/>
          <p:cNvSpPr txBox="1"/>
          <p:nvPr/>
        </p:nvSpPr>
        <p:spPr>
          <a:xfrm>
            <a:off x="3337144" y="4980801"/>
            <a:ext cx="580390" cy="1524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</a:t>
            </a:r>
            <a:endParaRPr lang="en-US" sz="700" dirty="0"/>
          </a:p>
        </p:txBody>
      </p:sp>
      <p:sp>
        <p:nvSpPr>
          <p:cNvPr id="49" name="Text 47"/>
          <p:cNvSpPr txBox="1"/>
          <p:nvPr/>
        </p:nvSpPr>
        <p:spPr>
          <a:xfrm>
            <a:off x="4169750" y="4980801"/>
            <a:ext cx="891540" cy="1524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signal</a:t>
            </a:r>
            <a:endParaRPr lang="en-US" sz="700" dirty="0"/>
          </a:p>
        </p:txBody>
      </p:sp>
      <p:sp>
        <p:nvSpPr>
          <p:cNvPr id="50" name="Text 48"/>
          <p:cNvSpPr txBox="1"/>
          <p:nvPr/>
        </p:nvSpPr>
        <p:spPr>
          <a:xfrm>
            <a:off x="5202381" y="4927461"/>
            <a:ext cx="80264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(telemetry,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commands)</a:t>
            </a:r>
            <a:endParaRPr lang="en-US" sz="700" dirty="0"/>
          </a:p>
        </p:txBody>
      </p:sp>
      <p:sp>
        <p:nvSpPr>
          <p:cNvPr id="51" name="Text 49"/>
          <p:cNvSpPr txBox="1"/>
          <p:nvPr/>
        </p:nvSpPr>
        <p:spPr>
          <a:xfrm>
            <a:off x="6161706" y="4927461"/>
            <a:ext cx="84709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commands,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700" dirty="0"/>
          </a:p>
        </p:txBody>
      </p:sp>
      <p:sp>
        <p:nvSpPr>
          <p:cNvPr id="52" name="Text 50"/>
          <p:cNvSpPr txBox="1"/>
          <p:nvPr/>
        </p:nvSpPr>
        <p:spPr>
          <a:xfrm>
            <a:off x="7016537" y="4927461"/>
            <a:ext cx="111379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operations,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</a:t>
            </a:r>
            <a:endParaRPr lang="en-US" sz="700" dirty="0"/>
          </a:p>
        </p:txBody>
      </p:sp>
      <p:sp>
        <p:nvSpPr>
          <p:cNvPr id="53" name="Text 51"/>
          <p:cNvSpPr txBox="1"/>
          <p:nvPr/>
        </p:nvSpPr>
        <p:spPr>
          <a:xfrm>
            <a:off x="8249193" y="4927461"/>
            <a:ext cx="62484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or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surface</a:t>
            </a:r>
            <a:endParaRPr lang="en-US" sz="700" dirty="0"/>
          </a:p>
        </p:txBody>
      </p:sp>
      <p:sp>
        <p:nvSpPr>
          <p:cNvPr id="54" name="Text 52"/>
          <p:cNvSpPr txBox="1"/>
          <p:nvPr/>
        </p:nvSpPr>
        <p:spPr>
          <a:xfrm>
            <a:off x="2488236" y="6003452"/>
            <a:ext cx="580390" cy="1524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</a:t>
            </a:r>
            <a:endParaRPr lang="en-US" sz="700" dirty="0"/>
          </a:p>
        </p:txBody>
      </p:sp>
      <p:sp>
        <p:nvSpPr>
          <p:cNvPr id="55" name="Text 53"/>
          <p:cNvSpPr txBox="1"/>
          <p:nvPr/>
        </p:nvSpPr>
        <p:spPr>
          <a:xfrm>
            <a:off x="4007264" y="3263438"/>
            <a:ext cx="89154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(loading, returns)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4051714" y="3825009"/>
            <a:ext cx="80264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order /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status</a:t>
            </a:r>
            <a:endParaRPr lang="en-US" sz="700" dirty="0"/>
          </a:p>
        </p:txBody>
      </p:sp>
      <p:sp>
        <p:nvSpPr>
          <p:cNvPr id="57" name="Text 55"/>
          <p:cNvSpPr txBox="1"/>
          <p:nvPr/>
        </p:nvSpPr>
        <p:spPr>
          <a:xfrm>
            <a:off x="2085374" y="3898900"/>
            <a:ext cx="35814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700" dirty="0"/>
          </a:p>
        </p:txBody>
      </p:sp>
      <p:sp>
        <p:nvSpPr>
          <p:cNvPr id="58" name="Text 56"/>
          <p:cNvSpPr txBox="1"/>
          <p:nvPr/>
        </p:nvSpPr>
        <p:spPr>
          <a:xfrm>
            <a:off x="7290148" y="3263438"/>
            <a:ext cx="89154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package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(returned package)</a:t>
            </a:r>
            <a:endParaRPr lang="en-US" sz="700" dirty="0"/>
          </a:p>
        </p:txBody>
      </p:sp>
      <p:sp>
        <p:nvSpPr>
          <p:cNvPr id="59" name="Text 57"/>
          <p:cNvSpPr txBox="1"/>
          <p:nvPr/>
        </p:nvSpPr>
        <p:spPr>
          <a:xfrm>
            <a:off x="7179023" y="3825009"/>
            <a:ext cx="1113790" cy="2590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Notification, pickup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proof of delivery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8811654" y="3597564"/>
            <a:ext cx="269240" cy="1524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</a:t>
            </a:r>
            <a:endParaRPr lang="en-US" sz="700" dirty="0"/>
          </a:p>
        </p:txBody>
      </p:sp>
      <p:sp>
        <p:nvSpPr>
          <p:cNvPr id="61" name="Text 59"/>
          <p:cNvSpPr txBox="1"/>
          <p:nvPr/>
        </p:nvSpPr>
        <p:spPr>
          <a:xfrm>
            <a:off x="4722876" y="9001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871078" y="2856807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STRUCTURING INPUTS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7574674" y="2856807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STRUCTURING OUTPUTS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722876" y="598978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6625043" y="6481618"/>
            <a:ext cx="185699" cy="0"/>
          </a:xfrm>
          <a:prstGeom prst="line">
            <a:avLst/>
          </a:prstGeom>
          <a:noFill/>
          <a:ln w="15875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66" name="Text 64"/>
          <p:cNvSpPr txBox="1"/>
          <p:nvPr/>
        </p:nvSpPr>
        <p:spPr>
          <a:xfrm>
            <a:off x="6850534" y="639017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Structuring inputs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7744540" y="6481618"/>
            <a:ext cx="185699" cy="0"/>
          </a:xfrm>
          <a:prstGeom prst="line">
            <a:avLst/>
          </a:prstGeom>
          <a:noFill/>
          <a:ln w="15875">
            <a:solidFill>
              <a:srgbClr val="0E6A86"/>
            </a:solidFill>
            <a:prstDash val="solid"/>
            <a:tailEnd type="triangle"/>
          </a:ln>
        </p:spPr>
      </p:sp>
      <p:sp>
        <p:nvSpPr>
          <p:cNvPr id="68" name="Text 66"/>
          <p:cNvSpPr txBox="1"/>
          <p:nvPr/>
        </p:nvSpPr>
        <p:spPr>
          <a:xfrm>
            <a:off x="7970031" y="639017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Structuring outputs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8907808" y="6481618"/>
            <a:ext cx="185699" cy="0"/>
          </a:xfrm>
          <a:prstGeom prst="line">
            <a:avLst/>
          </a:prstGeom>
          <a:noFill/>
          <a:ln w="15875">
            <a:solidFill>
              <a:srgbClr val="B07A12"/>
            </a:solidFill>
            <a:prstDash val="solid"/>
            <a:tailEnd type="triangle"/>
          </a:ln>
        </p:spPr>
      </p:sp>
      <p:sp>
        <p:nvSpPr>
          <p:cNvPr id="70" name="Text 68"/>
          <p:cNvSpPr txBox="1"/>
          <p:nvPr/>
        </p:nvSpPr>
        <p:spPr>
          <a:xfrm>
            <a:off x="9133299" y="639017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9633359" y="6481618"/>
            <a:ext cx="185699" cy="0"/>
          </a:xfrm>
          <a:prstGeom prst="line">
            <a:avLst/>
          </a:prstGeom>
          <a:noFill/>
          <a:ln w="15875">
            <a:solidFill>
              <a:srgbClr val="B0413E"/>
            </a:solidFill>
            <a:prstDash val="solid"/>
            <a:tailEnd type="triangle"/>
          </a:ln>
        </p:spPr>
      </p:sp>
      <p:sp>
        <p:nvSpPr>
          <p:cNvPr id="72" name="Text 70"/>
          <p:cNvSpPr txBox="1"/>
          <p:nvPr/>
        </p:nvSpPr>
        <p:spPr>
          <a:xfrm>
            <a:off x="9858850" y="639017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10446453" y="6481618"/>
            <a:ext cx="185699" cy="0"/>
          </a:xfrm>
          <a:prstGeom prst="line">
            <a:avLst/>
          </a:prstGeom>
          <a:noFill/>
          <a:ln w="15875">
            <a:solidFill>
              <a:srgbClr val="7C8891"/>
            </a:solidFill>
            <a:prstDash val="dash"/>
            <a:tailEnd type="triangle"/>
          </a:ln>
        </p:spPr>
      </p:sp>
      <p:sp>
        <p:nvSpPr>
          <p:cNvPr id="74" name="Text 72"/>
          <p:cNvSpPr txBox="1"/>
          <p:nvPr/>
        </p:nvSpPr>
        <p:spPr>
          <a:xfrm>
            <a:off x="10671944" y="639017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external system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breakdown structure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503920" y="27432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view · Behavioral analysis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094476" y="1559770"/>
            <a:ext cx="0" cy="331905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1257710" y="1891674"/>
            <a:ext cx="4836766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57710" y="1891674"/>
            <a:ext cx="0" cy="258148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1566" y="2629240"/>
            <a:ext cx="0" cy="460979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1566" y="3090219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1566" y="2629240"/>
            <a:ext cx="0" cy="958835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1566" y="3588075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1566" y="2629240"/>
            <a:ext cx="0" cy="1456692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1566" y="4085932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1566" y="2629240"/>
            <a:ext cx="0" cy="1954549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1566" y="4583789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94476" y="1559770"/>
            <a:ext cx="0" cy="331905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2639643" y="1891674"/>
            <a:ext cx="3454833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39643" y="1891674"/>
            <a:ext cx="0" cy="258148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83499" y="2629240"/>
            <a:ext cx="0" cy="460979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83499" y="3090219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83499" y="2629240"/>
            <a:ext cx="0" cy="958835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83499" y="3588075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83499" y="2629240"/>
            <a:ext cx="0" cy="1456692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83499" y="4085932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83499" y="2629240"/>
            <a:ext cx="0" cy="1954549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83499" y="4583789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83499" y="2629240"/>
            <a:ext cx="0" cy="2452406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83499" y="5081646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83499" y="2629240"/>
            <a:ext cx="0" cy="2950262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83499" y="5579503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83499" y="2629240"/>
            <a:ext cx="0" cy="3448119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83499" y="6077359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94476" y="1559770"/>
            <a:ext cx="0" cy="331905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021576" y="1891674"/>
            <a:ext cx="2072900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21576" y="1891674"/>
            <a:ext cx="0" cy="258148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65432" y="2629240"/>
            <a:ext cx="0" cy="460979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65432" y="3090219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465432" y="2629240"/>
            <a:ext cx="0" cy="958835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65432" y="3588075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65432" y="2629240"/>
            <a:ext cx="0" cy="1456692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465432" y="4085932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465432" y="2629240"/>
            <a:ext cx="0" cy="1954549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65432" y="4583789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465432" y="2629240"/>
            <a:ext cx="0" cy="2452406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65432" y="5081646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65432" y="2629240"/>
            <a:ext cx="0" cy="2950262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465432" y="5579503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94476" y="1559770"/>
            <a:ext cx="0" cy="331905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>
            <a:off x="5403509" y="1891674"/>
            <a:ext cx="690967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403509" y="1891674"/>
            <a:ext cx="0" cy="258148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847366" y="2629240"/>
            <a:ext cx="0" cy="460979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47366" y="3090219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47366" y="2629240"/>
            <a:ext cx="0" cy="958835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847366" y="3588075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847366" y="2629240"/>
            <a:ext cx="0" cy="1456692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847366" y="4085932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47366" y="2629240"/>
            <a:ext cx="0" cy="1954549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47366" y="4583789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47366" y="2629240"/>
            <a:ext cx="0" cy="2452406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47366" y="5081646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94476" y="1559770"/>
            <a:ext cx="0" cy="331905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94476" y="1891674"/>
            <a:ext cx="690967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785443" y="1891674"/>
            <a:ext cx="0" cy="258148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29299" y="2629240"/>
            <a:ext cx="0" cy="460979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229299" y="3090219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229299" y="2629240"/>
            <a:ext cx="0" cy="958835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29299" y="3588075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229299" y="2629240"/>
            <a:ext cx="0" cy="1456692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9299" y="4085932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29299" y="2629240"/>
            <a:ext cx="0" cy="1954549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229299" y="4583789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229299" y="2629240"/>
            <a:ext cx="0" cy="2452406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229299" y="5081646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229299" y="2629240"/>
            <a:ext cx="0" cy="2950262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229299" y="5579503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94476" y="1559770"/>
            <a:ext cx="0" cy="331905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94476" y="1891674"/>
            <a:ext cx="2072900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167376" y="1891674"/>
            <a:ext cx="0" cy="258148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611232" y="2629240"/>
            <a:ext cx="0" cy="460979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611232" y="3090219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611232" y="2629240"/>
            <a:ext cx="0" cy="958835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611232" y="3588075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611232" y="2629240"/>
            <a:ext cx="0" cy="1456692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611232" y="4085932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611232" y="2629240"/>
            <a:ext cx="0" cy="1954549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11232" y="4583789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094476" y="1559770"/>
            <a:ext cx="0" cy="331905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094476" y="1891674"/>
            <a:ext cx="3454833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549309" y="1891674"/>
            <a:ext cx="0" cy="258148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8993165" y="2629240"/>
            <a:ext cx="0" cy="460979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993165" y="3090219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993165" y="2629240"/>
            <a:ext cx="0" cy="958835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993165" y="3588075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993165" y="2629240"/>
            <a:ext cx="0" cy="1456692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993165" y="4085932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993165" y="2629240"/>
            <a:ext cx="0" cy="1954549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993165" y="4583789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993165" y="2629240"/>
            <a:ext cx="0" cy="2452406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993165" y="5081646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993165" y="2629240"/>
            <a:ext cx="0" cy="2950262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993165" y="5579503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6094476" y="1559770"/>
            <a:ext cx="0" cy="331905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094476" y="1891674"/>
            <a:ext cx="4836766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0931242" y="1891674"/>
            <a:ext cx="0" cy="258148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0375098" y="2629240"/>
            <a:ext cx="0" cy="460979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10375098" y="3090219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0375098" y="2629240"/>
            <a:ext cx="0" cy="958835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375098" y="3588075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0375098" y="2629240"/>
            <a:ext cx="0" cy="1456692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0375098" y="4085932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0375098" y="2629240"/>
            <a:ext cx="0" cy="1954549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10375098" y="4583789"/>
            <a:ext cx="92691" cy="0"/>
          </a:xfrm>
          <a:prstGeom prst="line">
            <a:avLst/>
          </a:prstGeom>
          <a:noFill/>
          <a:ln w="12700">
            <a:solidFill>
              <a:srgbClr val="9AA6AD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577720" y="1080352"/>
            <a:ext cx="3033512" cy="479418"/>
          </a:xfrm>
          <a:prstGeom prst="roundRect">
            <a:avLst>
              <a:gd name="adj" fmla="val 11444"/>
            </a:avLst>
          </a:prstGeom>
          <a:solidFill>
            <a:srgbClr val="15202A"/>
          </a:solidFill>
          <a:ln w="12700">
            <a:solidFill>
              <a:srgbClr val="15202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F0  Deliver a parcel by drone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urban area</a:t>
            </a:r>
            <a:endParaRPr lang="en-US" sz="1200" dirty="0"/>
          </a:p>
        </p:txBody>
      </p:sp>
      <p:sp>
        <p:nvSpPr>
          <p:cNvPr id="113" name="Text 111"/>
          <p:cNvSpPr/>
          <p:nvPr/>
        </p:nvSpPr>
        <p:spPr>
          <a:xfrm>
            <a:off x="625728" y="2149822"/>
            <a:ext cx="1263963" cy="479418"/>
          </a:xfrm>
          <a:prstGeom prst="roundRect">
            <a:avLst>
              <a:gd name="adj" fmla="val 11444"/>
            </a:avLst>
          </a:prstGeom>
          <a:solidFill>
            <a:srgbClr val="E3EEF1"/>
          </a:solidFill>
          <a:ln w="12700">
            <a:solidFill>
              <a:srgbClr val="0E6A8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 Manage the mission</a:t>
            </a:r>
            <a:endParaRPr lang="en-US" sz="900" dirty="0"/>
          </a:p>
        </p:txBody>
      </p:sp>
      <p:sp>
        <p:nvSpPr>
          <p:cNvPr id="114" name="Text 112"/>
          <p:cNvSpPr/>
          <p:nvPr/>
        </p:nvSpPr>
        <p:spPr>
          <a:xfrm>
            <a:off x="794257" y="2887388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Receive the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order</a:t>
            </a:r>
            <a:endParaRPr lang="en-US" sz="750" dirty="0"/>
          </a:p>
        </p:txBody>
      </p:sp>
      <p:sp>
        <p:nvSpPr>
          <p:cNvPr id="115" name="Text 113"/>
          <p:cNvSpPr/>
          <p:nvPr/>
        </p:nvSpPr>
        <p:spPr>
          <a:xfrm>
            <a:off x="794257" y="3385245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Plan the route</a:t>
            </a:r>
            <a:endParaRPr lang="en-US" sz="750" dirty="0"/>
          </a:p>
        </p:txBody>
      </p:sp>
      <p:sp>
        <p:nvSpPr>
          <p:cNvPr id="116" name="Text 114"/>
          <p:cNvSpPr/>
          <p:nvPr/>
        </p:nvSpPr>
        <p:spPr>
          <a:xfrm>
            <a:off x="794257" y="3883102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 Obtain flight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</a:t>
            </a:r>
            <a:endParaRPr lang="en-US" sz="750" dirty="0"/>
          </a:p>
        </p:txBody>
      </p:sp>
      <p:sp>
        <p:nvSpPr>
          <p:cNvPr id="117" name="Text 115"/>
          <p:cNvSpPr/>
          <p:nvPr/>
        </p:nvSpPr>
        <p:spPr>
          <a:xfrm>
            <a:off x="794257" y="4380958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 Track and report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status</a:t>
            </a:r>
            <a:endParaRPr lang="en-US" sz="750" dirty="0"/>
          </a:p>
        </p:txBody>
      </p:sp>
      <p:sp>
        <p:nvSpPr>
          <p:cNvPr id="118" name="Text 116"/>
          <p:cNvSpPr/>
          <p:nvPr/>
        </p:nvSpPr>
        <p:spPr>
          <a:xfrm>
            <a:off x="2007662" y="2149822"/>
            <a:ext cx="1263963" cy="479418"/>
          </a:xfrm>
          <a:prstGeom prst="roundRect">
            <a:avLst>
              <a:gd name="adj" fmla="val 11444"/>
            </a:avLst>
          </a:prstGeom>
          <a:solidFill>
            <a:srgbClr val="E3EEF1"/>
          </a:solidFill>
          <a:ln w="12700">
            <a:solidFill>
              <a:srgbClr val="0E6A8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 Handle the package</a:t>
            </a:r>
            <a:endParaRPr lang="en-US" sz="900" dirty="0"/>
          </a:p>
        </p:txBody>
      </p:sp>
      <p:sp>
        <p:nvSpPr>
          <p:cNvPr id="119" name="Text 117"/>
          <p:cNvSpPr/>
          <p:nvPr/>
        </p:nvSpPr>
        <p:spPr>
          <a:xfrm>
            <a:off x="2176190" y="2887388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Accept and lock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package</a:t>
            </a:r>
            <a:endParaRPr lang="en-US" sz="750" dirty="0"/>
          </a:p>
        </p:txBody>
      </p:sp>
      <p:sp>
        <p:nvSpPr>
          <p:cNvPr id="120" name="Text 118"/>
          <p:cNvSpPr/>
          <p:nvPr/>
        </p:nvSpPr>
        <p:spPr>
          <a:xfrm>
            <a:off x="2176190" y="3385245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Measure the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mass</a:t>
            </a:r>
            <a:endParaRPr lang="en-US" sz="750" dirty="0"/>
          </a:p>
        </p:txBody>
      </p:sp>
      <p:sp>
        <p:nvSpPr>
          <p:cNvPr id="121" name="Text 119"/>
          <p:cNvSpPr/>
          <p:nvPr/>
        </p:nvSpPr>
        <p:spPr>
          <a:xfrm>
            <a:off x="2176190" y="3883102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Hold the package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flight</a:t>
            </a:r>
            <a:endParaRPr lang="en-US" sz="750" dirty="0"/>
          </a:p>
        </p:txBody>
      </p:sp>
      <p:sp>
        <p:nvSpPr>
          <p:cNvPr id="122" name="Text 120"/>
          <p:cNvSpPr/>
          <p:nvPr/>
        </p:nvSpPr>
        <p:spPr>
          <a:xfrm>
            <a:off x="2176190" y="4380958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 Authenticate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recipient</a:t>
            </a:r>
            <a:endParaRPr lang="en-US" sz="750" dirty="0"/>
          </a:p>
        </p:txBody>
      </p:sp>
      <p:sp>
        <p:nvSpPr>
          <p:cNvPr id="123" name="Text 121"/>
          <p:cNvSpPr/>
          <p:nvPr/>
        </p:nvSpPr>
        <p:spPr>
          <a:xfrm>
            <a:off x="2176190" y="4878815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 Deliver the package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recipient</a:t>
            </a:r>
            <a:endParaRPr lang="en-US" sz="750" dirty="0"/>
          </a:p>
        </p:txBody>
      </p:sp>
      <p:sp>
        <p:nvSpPr>
          <p:cNvPr id="124" name="Text 122"/>
          <p:cNvSpPr/>
          <p:nvPr/>
        </p:nvSpPr>
        <p:spPr>
          <a:xfrm>
            <a:off x="2176190" y="5376672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  Provide proof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delivery</a:t>
            </a:r>
            <a:endParaRPr lang="en-US" sz="750" dirty="0"/>
          </a:p>
        </p:txBody>
      </p:sp>
      <p:sp>
        <p:nvSpPr>
          <p:cNvPr id="125" name="Text 123"/>
          <p:cNvSpPr/>
          <p:nvPr/>
        </p:nvSpPr>
        <p:spPr>
          <a:xfrm>
            <a:off x="2176190" y="5874529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  Handle returns and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undelivered packages</a:t>
            </a:r>
            <a:endParaRPr lang="en-US" sz="750" dirty="0"/>
          </a:p>
        </p:txBody>
      </p:sp>
      <p:sp>
        <p:nvSpPr>
          <p:cNvPr id="126" name="Text 124"/>
          <p:cNvSpPr/>
          <p:nvPr/>
        </p:nvSpPr>
        <p:spPr>
          <a:xfrm>
            <a:off x="3389595" y="2149822"/>
            <a:ext cx="1263963" cy="479418"/>
          </a:xfrm>
          <a:prstGeom prst="roundRect">
            <a:avLst>
              <a:gd name="adj" fmla="val 11444"/>
            </a:avLst>
          </a:prstGeom>
          <a:solidFill>
            <a:srgbClr val="E3EEF1"/>
          </a:solidFill>
          <a:ln w="12700">
            <a:solidFill>
              <a:srgbClr val="0E6A8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  Move through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air</a:t>
            </a:r>
            <a:endParaRPr lang="en-US" sz="900" dirty="0"/>
          </a:p>
        </p:txBody>
      </p:sp>
      <p:sp>
        <p:nvSpPr>
          <p:cNvPr id="127" name="Text 125"/>
          <p:cNvSpPr/>
          <p:nvPr/>
        </p:nvSpPr>
        <p:spPr>
          <a:xfrm>
            <a:off x="3558123" y="2887388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Generate thrust</a:t>
            </a:r>
            <a:endParaRPr lang="en-US" sz="750" dirty="0"/>
          </a:p>
        </p:txBody>
      </p:sp>
      <p:sp>
        <p:nvSpPr>
          <p:cNvPr id="128" name="Text 126"/>
          <p:cNvSpPr/>
          <p:nvPr/>
        </p:nvSpPr>
        <p:spPr>
          <a:xfrm>
            <a:off x="3558123" y="3385245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Control attitude</a:t>
            </a:r>
            <a:endParaRPr lang="en-US" sz="750" dirty="0"/>
          </a:p>
        </p:txBody>
      </p:sp>
      <p:sp>
        <p:nvSpPr>
          <p:cNvPr id="129" name="Text 127"/>
          <p:cNvSpPr/>
          <p:nvPr/>
        </p:nvSpPr>
        <p:spPr>
          <a:xfrm>
            <a:off x="3558123" y="3883102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Take off</a:t>
            </a:r>
            <a:endParaRPr lang="en-US" sz="750" dirty="0"/>
          </a:p>
        </p:txBody>
      </p:sp>
      <p:sp>
        <p:nvSpPr>
          <p:cNvPr id="130" name="Text 128"/>
          <p:cNvSpPr/>
          <p:nvPr/>
        </p:nvSpPr>
        <p:spPr>
          <a:xfrm>
            <a:off x="3558123" y="4380958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 Hover in place</a:t>
            </a:r>
            <a:endParaRPr lang="en-US" sz="750" dirty="0"/>
          </a:p>
        </p:txBody>
      </p:sp>
      <p:sp>
        <p:nvSpPr>
          <p:cNvPr id="131" name="Text 129"/>
          <p:cNvSpPr/>
          <p:nvPr/>
        </p:nvSpPr>
        <p:spPr>
          <a:xfrm>
            <a:off x="3558123" y="4878815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 Land</a:t>
            </a:r>
            <a:endParaRPr lang="en-US" sz="750" dirty="0"/>
          </a:p>
        </p:txBody>
      </p:sp>
      <p:sp>
        <p:nvSpPr>
          <p:cNvPr id="132" name="Text 130"/>
          <p:cNvSpPr/>
          <p:nvPr/>
        </p:nvSpPr>
        <p:spPr>
          <a:xfrm>
            <a:off x="3558123" y="5376672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  Withstand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loads</a:t>
            </a:r>
            <a:endParaRPr lang="en-US" sz="750" dirty="0"/>
          </a:p>
        </p:txBody>
      </p:sp>
      <p:sp>
        <p:nvSpPr>
          <p:cNvPr id="133" name="Text 131"/>
          <p:cNvSpPr/>
          <p:nvPr/>
        </p:nvSpPr>
        <p:spPr>
          <a:xfrm>
            <a:off x="4771528" y="2149822"/>
            <a:ext cx="1263963" cy="479418"/>
          </a:xfrm>
          <a:prstGeom prst="roundRect">
            <a:avLst>
              <a:gd name="adj" fmla="val 11444"/>
            </a:avLst>
          </a:prstGeom>
          <a:solidFill>
            <a:srgbClr val="E3EEF1"/>
          </a:solidFill>
          <a:ln w="12700">
            <a:solidFill>
              <a:srgbClr val="0E6A8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 Navigate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4940056" y="2887388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 Determine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position</a:t>
            </a:r>
            <a:endParaRPr lang="en-US" sz="750" dirty="0"/>
          </a:p>
        </p:txBody>
      </p:sp>
      <p:sp>
        <p:nvSpPr>
          <p:cNvPr id="135" name="Text 133"/>
          <p:cNvSpPr/>
          <p:nvPr/>
        </p:nvSpPr>
        <p:spPr>
          <a:xfrm>
            <a:off x="4940056" y="3385245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 Perceive the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750" dirty="0"/>
          </a:p>
        </p:txBody>
      </p:sp>
      <p:sp>
        <p:nvSpPr>
          <p:cNvPr id="136" name="Text 134"/>
          <p:cNvSpPr/>
          <p:nvPr/>
        </p:nvSpPr>
        <p:spPr>
          <a:xfrm>
            <a:off x="4940056" y="3883102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 Detect and avoid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obstacles, aircraft</a:t>
            </a:r>
            <a:endParaRPr lang="en-US" sz="750" dirty="0"/>
          </a:p>
        </p:txBody>
      </p:sp>
      <p:sp>
        <p:nvSpPr>
          <p:cNvPr id="137" name="Text 135"/>
          <p:cNvSpPr/>
          <p:nvPr/>
        </p:nvSpPr>
        <p:spPr>
          <a:xfrm>
            <a:off x="4940056" y="4380958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 Follow the route</a:t>
            </a:r>
            <a:endParaRPr lang="en-US" sz="750" dirty="0"/>
          </a:p>
        </p:txBody>
      </p:sp>
      <p:sp>
        <p:nvSpPr>
          <p:cNvPr id="138" name="Text 136"/>
          <p:cNvSpPr/>
          <p:nvPr/>
        </p:nvSpPr>
        <p:spPr>
          <a:xfrm>
            <a:off x="4940056" y="4878815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 Identify and check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drop zone</a:t>
            </a:r>
            <a:endParaRPr lang="en-US" sz="750" dirty="0"/>
          </a:p>
        </p:txBody>
      </p:sp>
      <p:sp>
        <p:nvSpPr>
          <p:cNvPr id="139" name="Text 137"/>
          <p:cNvSpPr/>
          <p:nvPr/>
        </p:nvSpPr>
        <p:spPr>
          <a:xfrm>
            <a:off x="6153461" y="2149822"/>
            <a:ext cx="1263963" cy="479418"/>
          </a:xfrm>
          <a:prstGeom prst="roundRect">
            <a:avLst>
              <a:gd name="adj" fmla="val 11444"/>
            </a:avLst>
          </a:prstGeom>
          <a:solidFill>
            <a:srgbClr val="E3EEF1"/>
          </a:solidFill>
          <a:ln w="12700">
            <a:solidFill>
              <a:srgbClr val="0E6A8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 Communicate</a:t>
            </a:r>
            <a:endParaRPr lang="en-US" sz="900" dirty="0"/>
          </a:p>
        </p:txBody>
      </p:sp>
      <p:sp>
        <p:nvSpPr>
          <p:cNvPr id="140" name="Text 138"/>
          <p:cNvSpPr/>
          <p:nvPr/>
        </p:nvSpPr>
        <p:spPr>
          <a:xfrm>
            <a:off x="6321989" y="2887388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 Exchange with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telepilot</a:t>
            </a:r>
            <a:endParaRPr lang="en-US" sz="750" dirty="0"/>
          </a:p>
        </p:txBody>
      </p:sp>
      <p:sp>
        <p:nvSpPr>
          <p:cNvPr id="141" name="Text 139"/>
          <p:cNvSpPr/>
          <p:nvPr/>
        </p:nvSpPr>
        <p:spPr>
          <a:xfrm>
            <a:off x="6321989" y="3385245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 Exchange with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U-space (UTM)</a:t>
            </a:r>
            <a:endParaRPr lang="en-US" sz="750" dirty="0"/>
          </a:p>
        </p:txBody>
      </p:sp>
      <p:sp>
        <p:nvSpPr>
          <p:cNvPr id="142" name="Text 140"/>
          <p:cNvSpPr/>
          <p:nvPr/>
        </p:nvSpPr>
        <p:spPr>
          <a:xfrm>
            <a:off x="6321989" y="3883102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  Interact with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recipient</a:t>
            </a:r>
            <a:endParaRPr lang="en-US" sz="750" dirty="0"/>
          </a:p>
        </p:txBody>
      </p:sp>
      <p:sp>
        <p:nvSpPr>
          <p:cNvPr id="143" name="Text 141"/>
          <p:cNvSpPr/>
          <p:nvPr/>
        </p:nvSpPr>
        <p:spPr>
          <a:xfrm>
            <a:off x="6321989" y="4380958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  Identify itself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remotely</a:t>
            </a:r>
            <a:endParaRPr lang="en-US" sz="750" dirty="0"/>
          </a:p>
        </p:txBody>
      </p:sp>
      <p:sp>
        <p:nvSpPr>
          <p:cNvPr id="144" name="Text 142"/>
          <p:cNvSpPr/>
          <p:nvPr/>
        </p:nvSpPr>
        <p:spPr>
          <a:xfrm>
            <a:off x="6321989" y="4878815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  Be visible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audible</a:t>
            </a:r>
            <a:endParaRPr lang="en-US" sz="750" dirty="0"/>
          </a:p>
        </p:txBody>
      </p:sp>
      <p:sp>
        <p:nvSpPr>
          <p:cNvPr id="145" name="Text 143"/>
          <p:cNvSpPr/>
          <p:nvPr/>
        </p:nvSpPr>
        <p:spPr>
          <a:xfrm>
            <a:off x="6321989" y="5376672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  Secure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communications</a:t>
            </a:r>
            <a:endParaRPr lang="en-US" sz="750" dirty="0"/>
          </a:p>
        </p:txBody>
      </p:sp>
      <p:sp>
        <p:nvSpPr>
          <p:cNvPr id="146" name="Text 144"/>
          <p:cNvSpPr/>
          <p:nvPr/>
        </p:nvSpPr>
        <p:spPr>
          <a:xfrm>
            <a:off x="7535394" y="2149822"/>
            <a:ext cx="1263963" cy="479418"/>
          </a:xfrm>
          <a:prstGeom prst="roundRect">
            <a:avLst>
              <a:gd name="adj" fmla="val 11444"/>
            </a:avLst>
          </a:prstGeom>
          <a:solidFill>
            <a:srgbClr val="E3EEF1"/>
          </a:solidFill>
          <a:ln w="12700">
            <a:solidFill>
              <a:srgbClr val="0E6A8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F6  Manage energy</a:t>
            </a:r>
            <a:endParaRPr lang="en-US" sz="900" dirty="0"/>
          </a:p>
        </p:txBody>
      </p:sp>
      <p:sp>
        <p:nvSpPr>
          <p:cNvPr id="147" name="Text 145"/>
          <p:cNvSpPr/>
          <p:nvPr/>
        </p:nvSpPr>
        <p:spPr>
          <a:xfrm>
            <a:off x="7703923" y="2887388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 Receive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energy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7703923" y="3385245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  Store energy</a:t>
            </a:r>
            <a:endParaRPr lang="en-US" sz="750" dirty="0"/>
          </a:p>
        </p:txBody>
      </p:sp>
      <p:sp>
        <p:nvSpPr>
          <p:cNvPr id="149" name="Text 147"/>
          <p:cNvSpPr/>
          <p:nvPr/>
        </p:nvSpPr>
        <p:spPr>
          <a:xfrm>
            <a:off x="7703923" y="3883102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  Monitor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state</a:t>
            </a:r>
            <a:endParaRPr lang="en-US" sz="750" dirty="0"/>
          </a:p>
        </p:txBody>
      </p:sp>
      <p:sp>
        <p:nvSpPr>
          <p:cNvPr id="150" name="Text 148"/>
          <p:cNvSpPr/>
          <p:nvPr/>
        </p:nvSpPr>
        <p:spPr>
          <a:xfrm>
            <a:off x="7703923" y="4380958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  Distribute energy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8917327" y="2149822"/>
            <a:ext cx="1263963" cy="479418"/>
          </a:xfrm>
          <a:prstGeom prst="roundRect">
            <a:avLst>
              <a:gd name="adj" fmla="val 11444"/>
            </a:avLst>
          </a:prstGeom>
          <a:solidFill>
            <a:srgbClr val="E3EEF1"/>
          </a:solidFill>
          <a:ln w="12700">
            <a:solidFill>
              <a:srgbClr val="0E6A8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F7  Ensure safety</a:t>
            </a:r>
            <a:endParaRPr lang="en-US" sz="900" dirty="0"/>
          </a:p>
        </p:txBody>
      </p:sp>
      <p:sp>
        <p:nvSpPr>
          <p:cNvPr id="152" name="Text 150"/>
          <p:cNvSpPr/>
          <p:nvPr/>
        </p:nvSpPr>
        <p:spPr>
          <a:xfrm>
            <a:off x="9085856" y="2887388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  Monitor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health</a:t>
            </a:r>
            <a:endParaRPr lang="en-US" sz="750" dirty="0"/>
          </a:p>
        </p:txBody>
      </p:sp>
      <p:sp>
        <p:nvSpPr>
          <p:cNvPr id="153" name="Text 151"/>
          <p:cNvSpPr/>
          <p:nvPr/>
        </p:nvSpPr>
        <p:spPr>
          <a:xfrm>
            <a:off x="9085856" y="3385245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  Respect flight zones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(geofencing)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9085856" y="3883102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  Manage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modes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9085856" y="4380958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  Limit the severity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fall</a:t>
            </a:r>
            <a:endParaRPr lang="en-US" sz="750" dirty="0"/>
          </a:p>
        </p:txBody>
      </p:sp>
      <p:sp>
        <p:nvSpPr>
          <p:cNvPr id="156" name="Text 154"/>
          <p:cNvSpPr/>
          <p:nvPr/>
        </p:nvSpPr>
        <p:spPr>
          <a:xfrm>
            <a:off x="9085856" y="4878815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  Withstand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weather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9085856" y="5376672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  Limit nuisance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(noise, privacy)</a:t>
            </a:r>
            <a:endParaRPr lang="en-US" sz="750" dirty="0"/>
          </a:p>
        </p:txBody>
      </p:sp>
      <p:sp>
        <p:nvSpPr>
          <p:cNvPr id="158" name="Text 156"/>
          <p:cNvSpPr/>
          <p:nvPr/>
        </p:nvSpPr>
        <p:spPr>
          <a:xfrm>
            <a:off x="10299260" y="2149822"/>
            <a:ext cx="1263963" cy="479418"/>
          </a:xfrm>
          <a:prstGeom prst="roundRect">
            <a:avLst>
              <a:gd name="adj" fmla="val 11444"/>
            </a:avLst>
          </a:prstGeom>
          <a:solidFill>
            <a:srgbClr val="E3EEF1"/>
          </a:solidFill>
          <a:ln w="12700">
            <a:solidFill>
              <a:srgbClr val="0E6A8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F8  Enable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sz="900" dirty="0"/>
          </a:p>
        </p:txBody>
      </p:sp>
      <p:sp>
        <p:nvSpPr>
          <p:cNvPr id="159" name="Text 157"/>
          <p:cNvSpPr/>
          <p:nvPr/>
        </p:nvSpPr>
        <p:spPr>
          <a:xfrm>
            <a:off x="10467789" y="2887388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  Record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data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10467789" y="3385245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  Diagnose failures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10467789" y="3883102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  Update software</a:t>
            </a:r>
            <a:endParaRPr lang="en-US" sz="750" dirty="0"/>
          </a:p>
        </p:txBody>
      </p:sp>
      <p:sp>
        <p:nvSpPr>
          <p:cNvPr id="162" name="Text 160"/>
          <p:cNvSpPr/>
          <p:nvPr/>
        </p:nvSpPr>
        <p:spPr>
          <a:xfrm>
            <a:off x="10467789" y="4380958"/>
            <a:ext cx="1095435" cy="405661"/>
          </a:xfrm>
          <a:prstGeom prst="roundRect">
            <a:avLst>
              <a:gd name="adj" fmla="val 13525"/>
            </a:avLst>
          </a:prstGeom>
          <a:solidFill>
            <a:srgbClr val="FFFFFF"/>
          </a:solidFill>
          <a:ln w="12700">
            <a:solidFill>
              <a:srgbClr val="9AA6A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  Allow module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check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503920" y="27432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flows → functions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108960"/>
                <a:gridCol w="4297680"/>
                <a:gridCol w="24963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actor / 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 with the drone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Covered by functions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2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4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Laws, standards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5.4, 7.2, 7.4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4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UTM / U-space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Flight authorizations, restricted areas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1.3, 5.2, 7.2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4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Wind, rain, temperature, humidity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3.2, 7.5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4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environment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Obstacles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4.2, 4.3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4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airspace users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Collision risk, Remote 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4.3, 5.4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4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Third parties / local residents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Noise, fall risk, privacy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5.5, 7.4, 7.6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(loading, returns)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2.1, 2.2, 2.7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E-commerce ordering platform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 order / delivery 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1.1, 1.4, 2.6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Recipient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 package (returned package)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2.5, 2.7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Recipient's smartphone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Notification, pickup code, proof of delivery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2.4, 2.6, 5.3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7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Charging station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7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GNSS constellation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Positioning signal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7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4G / 5G network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(telemetry, commands)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5.1, 5.6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7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supervision operator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Mission commands, takeover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5.1, 7.3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7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operator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operations, diagnostics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8.1, 8.2, 8.3, 8.4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07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 zone / parcel locker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Landing or drop surface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2.5, 3.5, 4.5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17220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direct interactions are covered by at least one sub-function. Secondary systems (customer, energy grid) have no direct exchange with the drone.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Delivery drone - MBSE case study</dc:title>
  <dc:subject>PptxGenJS Presentation</dc:subject>
  <dc:creator>PptxGenJS</dc:creator>
  <cp:lastModifiedBy>PptxGenJS</cp:lastModifiedBy>
  <cp:revision>1</cp:revision>
  <dcterms:created xsi:type="dcterms:W3CDTF">2026-09-25T07:48:12Z</dcterms:created>
  <dcterms:modified xsi:type="dcterms:W3CDTF">2026-09-25T07:48:12Z</dcterms:modified>
</cp:coreProperties>
</file>