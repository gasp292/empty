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 drone as a black box. 18 external actors and systems (2 secondary), grouped in the four categories of the course: constraints, structuring inputs, structuring outputs, resources.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root is the system of interest (delivery drone). 8 level-1 functions and 42 level-2 sub-functions. Every function starts with an action verb and names no technology.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 components in 8 sub-systems embody the 42 functions. Flows: electricity, data and signals, mechanical loads and matter, waves (light, sound, radio).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analysis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diagram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503920" y="27432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view · Environment analysis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78431" y="1814484"/>
            <a:ext cx="2420713" cy="1570182"/>
          </a:xfrm>
          <a:prstGeom prst="line">
            <a:avLst/>
          </a:prstGeom>
          <a:noFill/>
          <a:ln w="15875">
            <a:solidFill>
              <a:srgbClr val="B0413E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104849" y="1814484"/>
            <a:ext cx="1452428" cy="1570182"/>
          </a:xfrm>
          <a:prstGeom prst="line">
            <a:avLst/>
          </a:prstGeom>
          <a:noFill/>
          <a:ln w="15875">
            <a:solidFill>
              <a:srgbClr val="B0413E"/>
            </a:solidFill>
            <a:prstDash val="solid"/>
            <a:headEnd type="triangl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431267" y="1814484"/>
            <a:ext cx="484143" cy="1570182"/>
          </a:xfrm>
          <a:prstGeom prst="line">
            <a:avLst/>
          </a:prstGeom>
          <a:noFill/>
          <a:ln w="15875">
            <a:solidFill>
              <a:srgbClr val="B0413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H="1">
            <a:off x="6273542" y="1814484"/>
            <a:ext cx="484143" cy="1570182"/>
          </a:xfrm>
          <a:prstGeom prst="line">
            <a:avLst/>
          </a:prstGeom>
          <a:noFill/>
          <a:ln w="15875">
            <a:solidFill>
              <a:srgbClr val="B0413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H="1">
            <a:off x="6631675" y="1814484"/>
            <a:ext cx="1452428" cy="1570182"/>
          </a:xfrm>
          <a:prstGeom prst="line">
            <a:avLst/>
          </a:prstGeom>
          <a:noFill/>
          <a:ln w="15875">
            <a:solidFill>
              <a:srgbClr val="B0413E"/>
            </a:solidFill>
            <a:prstDash val="solid"/>
            <a:headEnd type="triangle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6989808" y="1814484"/>
            <a:ext cx="2420713" cy="1570182"/>
          </a:xfrm>
          <a:prstGeom prst="line">
            <a:avLst/>
          </a:prstGeom>
          <a:noFill/>
          <a:ln w="15875">
            <a:solidFill>
              <a:srgbClr val="B0413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 flipV="1">
            <a:off x="2778431" y="4192847"/>
            <a:ext cx="2420713" cy="1454727"/>
          </a:xfrm>
          <a:prstGeom prst="line">
            <a:avLst/>
          </a:prstGeom>
          <a:noFill/>
          <a:ln w="15875">
            <a:solidFill>
              <a:srgbClr val="B07A1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V="1">
            <a:off x="4104849" y="4192847"/>
            <a:ext cx="1452428" cy="1454727"/>
          </a:xfrm>
          <a:prstGeom prst="line">
            <a:avLst/>
          </a:prstGeom>
          <a:noFill/>
          <a:ln w="15875">
            <a:solidFill>
              <a:srgbClr val="B07A1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V="1">
            <a:off x="5431267" y="4192847"/>
            <a:ext cx="484143" cy="1454727"/>
          </a:xfrm>
          <a:prstGeom prst="line">
            <a:avLst/>
          </a:prstGeom>
          <a:noFill/>
          <a:ln w="15875">
            <a:solidFill>
              <a:srgbClr val="B07A12"/>
            </a:solidFill>
            <a:prstDash val="solid"/>
            <a:headEnd type="triangle"/>
            <a:tailEnd type="triangle"/>
          </a:ln>
        </p:spPr>
      </p:sp>
      <p:sp>
        <p:nvSpPr>
          <p:cNvPr id="14" name="Shape 12"/>
          <p:cNvSpPr/>
          <p:nvPr/>
        </p:nvSpPr>
        <p:spPr>
          <a:xfrm flipH="1" flipV="1">
            <a:off x="6273542" y="4192847"/>
            <a:ext cx="484143" cy="1454727"/>
          </a:xfrm>
          <a:prstGeom prst="line">
            <a:avLst/>
          </a:prstGeom>
          <a:noFill/>
          <a:ln w="15875">
            <a:solidFill>
              <a:srgbClr val="B07A12"/>
            </a:solidFill>
            <a:prstDash val="solid"/>
            <a:headEnd type="triangle"/>
            <a:tailEnd type="triangle"/>
          </a:ln>
        </p:spPr>
      </p:sp>
      <p:sp>
        <p:nvSpPr>
          <p:cNvPr id="15" name="Shape 13"/>
          <p:cNvSpPr/>
          <p:nvPr/>
        </p:nvSpPr>
        <p:spPr>
          <a:xfrm flipH="1" flipV="1">
            <a:off x="6631675" y="4192847"/>
            <a:ext cx="1452428" cy="1454727"/>
          </a:xfrm>
          <a:prstGeom prst="line">
            <a:avLst/>
          </a:prstGeom>
          <a:noFill/>
          <a:ln w="15875">
            <a:solidFill>
              <a:srgbClr val="B07A12"/>
            </a:solidFill>
            <a:prstDash val="solid"/>
            <a:headEnd type="triangle"/>
            <a:tailEnd type="triangle"/>
          </a:ln>
        </p:spPr>
      </p:sp>
      <p:sp>
        <p:nvSpPr>
          <p:cNvPr id="16" name="Shape 14"/>
          <p:cNvSpPr/>
          <p:nvPr/>
        </p:nvSpPr>
        <p:spPr>
          <a:xfrm flipH="1" flipV="1">
            <a:off x="6989808" y="4192847"/>
            <a:ext cx="2420713" cy="1454727"/>
          </a:xfrm>
          <a:prstGeom prst="line">
            <a:avLst/>
          </a:prstGeom>
          <a:noFill/>
          <a:ln w="15875">
            <a:solidFill>
              <a:srgbClr val="B07A1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2778431" y="5970847"/>
            <a:ext cx="0" cy="334818"/>
          </a:xfrm>
          <a:prstGeom prst="line">
            <a:avLst/>
          </a:prstGeom>
          <a:noFill/>
          <a:ln w="15875">
            <a:solidFill>
              <a:srgbClr val="7C8891"/>
            </a:solidFill>
            <a:prstDash val="dash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872726" y="3442393"/>
            <a:ext cx="1160616" cy="144318"/>
          </a:xfrm>
          <a:prstGeom prst="line">
            <a:avLst/>
          </a:prstGeom>
          <a:noFill/>
          <a:ln w="15875">
            <a:solidFill>
              <a:srgbClr val="2E7D4F"/>
            </a:solidFill>
            <a:prstDash val="solid"/>
            <a:headEnd type="triangle"/>
            <a:tailEnd type="triangle"/>
          </a:ln>
        </p:spPr>
      </p:sp>
      <p:sp>
        <p:nvSpPr>
          <p:cNvPr id="19" name="Shape 17"/>
          <p:cNvSpPr/>
          <p:nvPr/>
        </p:nvSpPr>
        <p:spPr>
          <a:xfrm flipV="1">
            <a:off x="3872726" y="3990802"/>
            <a:ext cx="1160616" cy="144318"/>
          </a:xfrm>
          <a:prstGeom prst="line">
            <a:avLst/>
          </a:prstGeom>
          <a:noFill/>
          <a:ln w="15875">
            <a:solidFill>
              <a:srgbClr val="2E7D4F"/>
            </a:solidFill>
            <a:prstDash val="solid"/>
            <a:headEnd type="triangl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916260" y="4135120"/>
            <a:ext cx="696369" cy="0"/>
          </a:xfrm>
          <a:prstGeom prst="line">
            <a:avLst/>
          </a:prstGeom>
          <a:noFill/>
          <a:ln w="15875">
            <a:solidFill>
              <a:srgbClr val="7C8891"/>
            </a:solidFill>
            <a:prstDash val="dash"/>
            <a:tailEnd type="triangle"/>
          </a:ln>
        </p:spPr>
      </p:sp>
      <p:sp>
        <p:nvSpPr>
          <p:cNvPr id="21" name="Shape 19"/>
          <p:cNvSpPr/>
          <p:nvPr/>
        </p:nvSpPr>
        <p:spPr>
          <a:xfrm flipV="1">
            <a:off x="7155610" y="3442393"/>
            <a:ext cx="1160616" cy="144318"/>
          </a:xfrm>
          <a:prstGeom prst="line">
            <a:avLst/>
          </a:prstGeom>
          <a:noFill/>
          <a:ln w="15875">
            <a:solidFill>
              <a:srgbClr val="0E6A86"/>
            </a:solidFill>
            <a:prstDash val="solid"/>
            <a:headEnd type="triangl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155610" y="3990802"/>
            <a:ext cx="1160616" cy="144318"/>
          </a:xfrm>
          <a:prstGeom prst="line">
            <a:avLst/>
          </a:prstGeom>
          <a:noFill/>
          <a:ln w="15875">
            <a:solidFill>
              <a:srgbClr val="0E6A86"/>
            </a:solidFill>
            <a:prstDash val="solid"/>
            <a:headEnd type="triangl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946274" y="3604029"/>
            <a:ext cx="0" cy="369455"/>
          </a:xfrm>
          <a:prstGeom prst="line">
            <a:avLst/>
          </a:prstGeom>
          <a:noFill/>
          <a:ln w="15875">
            <a:solidFill>
              <a:srgbClr val="7C8891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5033342" y="3384665"/>
            <a:ext cx="2122269" cy="808182"/>
          </a:xfrm>
          <a:prstGeom prst="roundRect">
            <a:avLst>
              <a:gd name="adj" fmla="val 6789"/>
            </a:avLst>
          </a:prstGeom>
          <a:solidFill>
            <a:srgbClr val="15202A"/>
          </a:solidFill>
          <a:ln w="12700">
            <a:solidFill>
              <a:srgbClr val="15202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drone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(system of interest)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181543" y="1491211"/>
            <a:ext cx="1193776" cy="323273"/>
          </a:xfrm>
          <a:prstGeom prst="roundRect">
            <a:avLst>
              <a:gd name="adj" fmla="val 16971"/>
            </a:avLst>
          </a:prstGeom>
          <a:solidFill>
            <a:srgbClr val="FFFFFF"/>
          </a:solidFill>
          <a:ln w="22225">
            <a:solidFill>
              <a:srgbClr val="B0413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(EASA, DGAC)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507961" y="1491211"/>
            <a:ext cx="1193776" cy="323273"/>
          </a:xfrm>
          <a:prstGeom prst="roundRect">
            <a:avLst>
              <a:gd name="adj" fmla="val 16971"/>
            </a:avLst>
          </a:prstGeom>
          <a:solidFill>
            <a:srgbClr val="FFFFFF"/>
          </a:solidFill>
          <a:ln w="22225">
            <a:solidFill>
              <a:srgbClr val="B0413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traffic management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(UTM / U-space)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34379" y="1491211"/>
            <a:ext cx="1193776" cy="323273"/>
          </a:xfrm>
          <a:prstGeom prst="roundRect">
            <a:avLst>
              <a:gd name="adj" fmla="val 16971"/>
            </a:avLst>
          </a:prstGeom>
          <a:solidFill>
            <a:srgbClr val="FFFFFF"/>
          </a:solidFill>
          <a:ln w="22225">
            <a:solidFill>
              <a:srgbClr val="B0413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160797" y="1491211"/>
            <a:ext cx="1193776" cy="323273"/>
          </a:xfrm>
          <a:prstGeom prst="roundRect">
            <a:avLst>
              <a:gd name="adj" fmla="val 16971"/>
            </a:avLst>
          </a:prstGeom>
          <a:solidFill>
            <a:srgbClr val="FFFFFF"/>
          </a:solidFill>
          <a:ln w="22225">
            <a:solidFill>
              <a:srgbClr val="B0413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environment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487215" y="1491211"/>
            <a:ext cx="1193776" cy="323273"/>
          </a:xfrm>
          <a:prstGeom prst="roundRect">
            <a:avLst>
              <a:gd name="adj" fmla="val 16971"/>
            </a:avLst>
          </a:prstGeom>
          <a:solidFill>
            <a:srgbClr val="FFFFFF"/>
          </a:solidFill>
          <a:ln w="22225">
            <a:solidFill>
              <a:srgbClr val="B0413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airspace users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(helicopters, drones)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813633" y="1491211"/>
            <a:ext cx="1193776" cy="323273"/>
          </a:xfrm>
          <a:prstGeom prst="roundRect">
            <a:avLst>
              <a:gd name="adj" fmla="val 16971"/>
            </a:avLst>
          </a:prstGeom>
          <a:solidFill>
            <a:srgbClr val="FFFFFF"/>
          </a:solidFill>
          <a:ln w="22225">
            <a:solidFill>
              <a:srgbClr val="B0413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parties /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residents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181543" y="5647575"/>
            <a:ext cx="1193776" cy="323273"/>
          </a:xfrm>
          <a:prstGeom prst="roundRect">
            <a:avLst>
              <a:gd name="adj" fmla="val 16971"/>
            </a:avLst>
          </a:prstGeom>
          <a:solidFill>
            <a:srgbClr val="FFFFFF"/>
          </a:solidFill>
          <a:ln w="22225">
            <a:solidFill>
              <a:srgbClr val="B07A1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station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507961" y="5647575"/>
            <a:ext cx="1193776" cy="323273"/>
          </a:xfrm>
          <a:prstGeom prst="roundRect">
            <a:avLst>
              <a:gd name="adj" fmla="val 16971"/>
            </a:avLst>
          </a:prstGeom>
          <a:solidFill>
            <a:srgbClr val="FFFFFF"/>
          </a:solidFill>
          <a:ln w="22225">
            <a:solidFill>
              <a:srgbClr val="B07A1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GNSS constellation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(GPS, Galileo)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34379" y="5647575"/>
            <a:ext cx="1193776" cy="323273"/>
          </a:xfrm>
          <a:prstGeom prst="roundRect">
            <a:avLst>
              <a:gd name="adj" fmla="val 16971"/>
            </a:avLst>
          </a:prstGeom>
          <a:solidFill>
            <a:srgbClr val="FFFFFF"/>
          </a:solidFill>
          <a:ln w="22225">
            <a:solidFill>
              <a:srgbClr val="B07A1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 / 5G network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160797" y="5647575"/>
            <a:ext cx="1193776" cy="323273"/>
          </a:xfrm>
          <a:prstGeom prst="roundRect">
            <a:avLst>
              <a:gd name="adj" fmla="val 16971"/>
            </a:avLst>
          </a:prstGeom>
          <a:solidFill>
            <a:srgbClr val="FFFFFF"/>
          </a:solidFill>
          <a:ln w="22225">
            <a:solidFill>
              <a:srgbClr val="B07A1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supervision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(telepilot)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487215" y="5647575"/>
            <a:ext cx="1193776" cy="323273"/>
          </a:xfrm>
          <a:prstGeom prst="roundRect">
            <a:avLst>
              <a:gd name="adj" fmla="val 16971"/>
            </a:avLst>
          </a:prstGeom>
          <a:solidFill>
            <a:srgbClr val="FFFFFF"/>
          </a:solidFill>
          <a:ln w="22225">
            <a:solidFill>
              <a:srgbClr val="B07A1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operator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813633" y="5647575"/>
            <a:ext cx="1193776" cy="323273"/>
          </a:xfrm>
          <a:prstGeom prst="roundRect">
            <a:avLst>
              <a:gd name="adj" fmla="val 16971"/>
            </a:avLst>
          </a:prstGeom>
          <a:solidFill>
            <a:srgbClr val="FFFFFF"/>
          </a:solidFill>
          <a:ln w="22225">
            <a:solidFill>
              <a:srgbClr val="B07A1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zone /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 locker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181543" y="6305665"/>
            <a:ext cx="1193776" cy="277091"/>
          </a:xfrm>
          <a:prstGeom prst="roundRect">
            <a:avLst>
              <a:gd name="adj" fmla="val 19800"/>
            </a:avLst>
          </a:prstGeom>
          <a:solidFill>
            <a:srgbClr val="FFFFFF"/>
          </a:solidFill>
          <a:ln w="12700">
            <a:solidFill>
              <a:srgbClr val="7C8891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grid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612629" y="3280756"/>
            <a:ext cx="1260097" cy="323273"/>
          </a:xfrm>
          <a:prstGeom prst="roundRect">
            <a:avLst>
              <a:gd name="adj" fmla="val 16971"/>
            </a:avLst>
          </a:prstGeom>
          <a:solidFill>
            <a:srgbClr val="FFFFFF"/>
          </a:solidFill>
          <a:ln w="22225">
            <a:solidFill>
              <a:srgbClr val="2E7D4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(warehouse operator)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612629" y="3973484"/>
            <a:ext cx="1260097" cy="323273"/>
          </a:xfrm>
          <a:prstGeom prst="roundRect">
            <a:avLst>
              <a:gd name="adj" fmla="val 16971"/>
            </a:avLst>
          </a:prstGeom>
          <a:solidFill>
            <a:srgbClr val="FFFFFF"/>
          </a:solidFill>
          <a:ln w="22225">
            <a:solidFill>
              <a:srgbClr val="2E7D4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platform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22484" y="3996575"/>
            <a:ext cx="1193776" cy="277091"/>
          </a:xfrm>
          <a:prstGeom prst="roundRect">
            <a:avLst>
              <a:gd name="adj" fmla="val 19800"/>
            </a:avLst>
          </a:prstGeom>
          <a:solidFill>
            <a:srgbClr val="FFFFFF"/>
          </a:solidFill>
          <a:ln w="12700">
            <a:solidFill>
              <a:srgbClr val="7C8891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316226" y="3280756"/>
            <a:ext cx="1260097" cy="323273"/>
          </a:xfrm>
          <a:prstGeom prst="roundRect">
            <a:avLst>
              <a:gd name="adj" fmla="val 16971"/>
            </a:avLst>
          </a:prstGeom>
          <a:solidFill>
            <a:srgbClr val="FFFFFF"/>
          </a:solidFill>
          <a:ln w="22225">
            <a:solidFill>
              <a:srgbClr val="0E6A8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316226" y="3973484"/>
            <a:ext cx="1260097" cy="323273"/>
          </a:xfrm>
          <a:prstGeom prst="roundRect">
            <a:avLst>
              <a:gd name="adj" fmla="val 16971"/>
            </a:avLst>
          </a:prstGeom>
          <a:solidFill>
            <a:srgbClr val="FFFFFF"/>
          </a:solidFill>
          <a:ln w="22225">
            <a:solidFill>
              <a:srgbClr val="0E6A8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Recipient's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3092669" y="2233353"/>
            <a:ext cx="1069340" cy="2590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Laws, standards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(EU 2019/947, U-space)</a:t>
            </a:r>
            <a:endParaRPr lang="en-US" sz="700" dirty="0"/>
          </a:p>
        </p:txBody>
      </p:sp>
      <p:sp>
        <p:nvSpPr>
          <p:cNvPr id="44" name="Text 42"/>
          <p:cNvSpPr txBox="1"/>
          <p:nvPr/>
        </p:nvSpPr>
        <p:spPr>
          <a:xfrm>
            <a:off x="4080850" y="2233353"/>
            <a:ext cx="1069340" cy="2590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authorizations,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areas</a:t>
            </a:r>
            <a:endParaRPr lang="en-US" sz="700" dirty="0"/>
          </a:p>
        </p:txBody>
      </p:sp>
      <p:sp>
        <p:nvSpPr>
          <p:cNvPr id="45" name="Text 43"/>
          <p:cNvSpPr txBox="1"/>
          <p:nvPr/>
        </p:nvSpPr>
        <p:spPr>
          <a:xfrm>
            <a:off x="5091256" y="2233353"/>
            <a:ext cx="1024890" cy="2590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Wind, rain,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humidity</a:t>
            </a:r>
            <a:endParaRPr lang="en-US" sz="700" dirty="0"/>
          </a:p>
        </p:txBody>
      </p:sp>
      <p:sp>
        <p:nvSpPr>
          <p:cNvPr id="46" name="Text 44"/>
          <p:cNvSpPr txBox="1"/>
          <p:nvPr/>
        </p:nvSpPr>
        <p:spPr>
          <a:xfrm>
            <a:off x="6072806" y="2233353"/>
            <a:ext cx="1024890" cy="2590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Obstacles (buildings,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trees, cables, birds)</a:t>
            </a:r>
            <a:endParaRPr lang="en-US" sz="700" dirty="0"/>
          </a:p>
        </p:txBody>
      </p:sp>
      <p:sp>
        <p:nvSpPr>
          <p:cNvPr id="47" name="Text 45"/>
          <p:cNvSpPr txBox="1"/>
          <p:nvPr/>
        </p:nvSpPr>
        <p:spPr>
          <a:xfrm>
            <a:off x="7194337" y="2233353"/>
            <a:ext cx="758190" cy="2590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risk,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ID</a:t>
            </a:r>
            <a:endParaRPr lang="en-US" sz="700" dirty="0"/>
          </a:p>
        </p:txBody>
      </p:sp>
      <p:sp>
        <p:nvSpPr>
          <p:cNvPr id="48" name="Text 46"/>
          <p:cNvSpPr txBox="1"/>
          <p:nvPr/>
        </p:nvSpPr>
        <p:spPr>
          <a:xfrm>
            <a:off x="8138068" y="2233353"/>
            <a:ext cx="847090" cy="2590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Noise, fall risk,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700" dirty="0"/>
          </a:p>
        </p:txBody>
      </p:sp>
      <p:sp>
        <p:nvSpPr>
          <p:cNvPr id="49" name="Text 47"/>
          <p:cNvSpPr txBox="1"/>
          <p:nvPr/>
        </p:nvSpPr>
        <p:spPr>
          <a:xfrm>
            <a:off x="3337144" y="5063375"/>
            <a:ext cx="580390" cy="1524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</a:t>
            </a:r>
            <a:endParaRPr lang="en-US" sz="700" dirty="0"/>
          </a:p>
        </p:txBody>
      </p:sp>
      <p:sp>
        <p:nvSpPr>
          <p:cNvPr id="50" name="Text 48"/>
          <p:cNvSpPr txBox="1"/>
          <p:nvPr/>
        </p:nvSpPr>
        <p:spPr>
          <a:xfrm>
            <a:off x="4169750" y="5063375"/>
            <a:ext cx="891540" cy="1524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signal</a:t>
            </a:r>
            <a:endParaRPr lang="en-US" sz="700" dirty="0"/>
          </a:p>
        </p:txBody>
      </p:sp>
      <p:sp>
        <p:nvSpPr>
          <p:cNvPr id="51" name="Text 49"/>
          <p:cNvSpPr txBox="1"/>
          <p:nvPr/>
        </p:nvSpPr>
        <p:spPr>
          <a:xfrm>
            <a:off x="5202381" y="5010035"/>
            <a:ext cx="802640" cy="2590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(telemetry,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commands)</a:t>
            </a:r>
            <a:endParaRPr lang="en-US" sz="700" dirty="0"/>
          </a:p>
        </p:txBody>
      </p:sp>
      <p:sp>
        <p:nvSpPr>
          <p:cNvPr id="52" name="Text 50"/>
          <p:cNvSpPr txBox="1"/>
          <p:nvPr/>
        </p:nvSpPr>
        <p:spPr>
          <a:xfrm>
            <a:off x="6161706" y="5010035"/>
            <a:ext cx="847090" cy="2590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commands,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takeover</a:t>
            </a:r>
            <a:endParaRPr lang="en-US" sz="700" dirty="0"/>
          </a:p>
        </p:txBody>
      </p:sp>
      <p:sp>
        <p:nvSpPr>
          <p:cNvPr id="53" name="Text 51"/>
          <p:cNvSpPr txBox="1"/>
          <p:nvPr/>
        </p:nvSpPr>
        <p:spPr>
          <a:xfrm>
            <a:off x="7016537" y="5010035"/>
            <a:ext cx="1113790" cy="2590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operations,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</a:t>
            </a:r>
            <a:endParaRPr lang="en-US" sz="700" dirty="0"/>
          </a:p>
        </p:txBody>
      </p:sp>
      <p:sp>
        <p:nvSpPr>
          <p:cNvPr id="54" name="Text 52"/>
          <p:cNvSpPr txBox="1"/>
          <p:nvPr/>
        </p:nvSpPr>
        <p:spPr>
          <a:xfrm>
            <a:off x="8249193" y="5010035"/>
            <a:ext cx="624840" cy="2590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or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surface</a:t>
            </a:r>
            <a:endParaRPr lang="en-US" sz="700" dirty="0"/>
          </a:p>
        </p:txBody>
      </p:sp>
      <p:sp>
        <p:nvSpPr>
          <p:cNvPr id="55" name="Text 53"/>
          <p:cNvSpPr txBox="1"/>
          <p:nvPr/>
        </p:nvSpPr>
        <p:spPr>
          <a:xfrm>
            <a:off x="2488236" y="6062056"/>
            <a:ext cx="580390" cy="1524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</a:t>
            </a:r>
            <a:endParaRPr lang="en-US" sz="700" dirty="0"/>
          </a:p>
        </p:txBody>
      </p:sp>
      <p:sp>
        <p:nvSpPr>
          <p:cNvPr id="56" name="Text 54"/>
          <p:cNvSpPr txBox="1"/>
          <p:nvPr/>
        </p:nvSpPr>
        <p:spPr>
          <a:xfrm>
            <a:off x="4007264" y="3385012"/>
            <a:ext cx="891540" cy="2590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(loading, returns)</a:t>
            </a:r>
            <a:endParaRPr lang="en-US" sz="700" dirty="0"/>
          </a:p>
        </p:txBody>
      </p:sp>
      <p:sp>
        <p:nvSpPr>
          <p:cNvPr id="57" name="Text 55"/>
          <p:cNvSpPr txBox="1"/>
          <p:nvPr/>
        </p:nvSpPr>
        <p:spPr>
          <a:xfrm>
            <a:off x="4051714" y="3933421"/>
            <a:ext cx="802640" cy="2590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order /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status</a:t>
            </a:r>
            <a:endParaRPr lang="en-US" sz="700" dirty="0"/>
          </a:p>
        </p:txBody>
      </p:sp>
      <p:sp>
        <p:nvSpPr>
          <p:cNvPr id="58" name="Text 56"/>
          <p:cNvSpPr txBox="1"/>
          <p:nvPr/>
        </p:nvSpPr>
        <p:spPr>
          <a:xfrm>
            <a:off x="2085374" y="4005580"/>
            <a:ext cx="358140" cy="2590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700" dirty="0"/>
          </a:p>
        </p:txBody>
      </p:sp>
      <p:sp>
        <p:nvSpPr>
          <p:cNvPr id="59" name="Text 57"/>
          <p:cNvSpPr txBox="1"/>
          <p:nvPr/>
        </p:nvSpPr>
        <p:spPr>
          <a:xfrm>
            <a:off x="7290148" y="3385012"/>
            <a:ext cx="891540" cy="2590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package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(returned package)</a:t>
            </a:r>
            <a:endParaRPr lang="en-US" sz="700" dirty="0"/>
          </a:p>
        </p:txBody>
      </p:sp>
      <p:sp>
        <p:nvSpPr>
          <p:cNvPr id="60" name="Text 58"/>
          <p:cNvSpPr txBox="1"/>
          <p:nvPr/>
        </p:nvSpPr>
        <p:spPr>
          <a:xfrm>
            <a:off x="7179023" y="3933421"/>
            <a:ext cx="1113790" cy="2590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Notification, pickup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proof of delivery</a:t>
            </a:r>
            <a:endParaRPr lang="en-US" sz="700" dirty="0"/>
          </a:p>
        </p:txBody>
      </p:sp>
      <p:sp>
        <p:nvSpPr>
          <p:cNvPr id="61" name="Text 59"/>
          <p:cNvSpPr txBox="1"/>
          <p:nvPr/>
        </p:nvSpPr>
        <p:spPr>
          <a:xfrm>
            <a:off x="8811654" y="3712556"/>
            <a:ext cx="269240" cy="1524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</a:t>
            </a:r>
            <a:endParaRPr lang="en-US" sz="700" dirty="0"/>
          </a:p>
        </p:txBody>
      </p:sp>
      <p:sp>
        <p:nvSpPr>
          <p:cNvPr id="62" name="Text 60"/>
          <p:cNvSpPr txBox="1"/>
          <p:nvPr/>
        </p:nvSpPr>
        <p:spPr>
          <a:xfrm>
            <a:off x="4722876" y="1076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1871078" y="2987733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INPUTS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7574674" y="2987733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OUTPUTS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4722876" y="604727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6625043" y="6530802"/>
            <a:ext cx="185699" cy="0"/>
          </a:xfrm>
          <a:prstGeom prst="line">
            <a:avLst/>
          </a:prstGeom>
          <a:noFill/>
          <a:ln w="15875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67" name="Text 65"/>
          <p:cNvSpPr txBox="1"/>
          <p:nvPr/>
        </p:nvSpPr>
        <p:spPr>
          <a:xfrm>
            <a:off x="6850534" y="643936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inputs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7744540" y="6530802"/>
            <a:ext cx="185699" cy="0"/>
          </a:xfrm>
          <a:prstGeom prst="line">
            <a:avLst/>
          </a:prstGeom>
          <a:noFill/>
          <a:ln w="15875">
            <a:solidFill>
              <a:srgbClr val="0E6A86"/>
            </a:solidFill>
            <a:prstDash val="solid"/>
            <a:tailEnd type="triangle"/>
          </a:ln>
        </p:spPr>
      </p:sp>
      <p:sp>
        <p:nvSpPr>
          <p:cNvPr id="69" name="Text 67"/>
          <p:cNvSpPr txBox="1"/>
          <p:nvPr/>
        </p:nvSpPr>
        <p:spPr>
          <a:xfrm>
            <a:off x="7970031" y="643936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outputs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8907808" y="6530802"/>
            <a:ext cx="185699" cy="0"/>
          </a:xfrm>
          <a:prstGeom prst="line">
            <a:avLst/>
          </a:prstGeom>
          <a:noFill/>
          <a:ln w="15875">
            <a:solidFill>
              <a:srgbClr val="B07A12"/>
            </a:solidFill>
            <a:prstDash val="solid"/>
            <a:tailEnd type="triangle"/>
          </a:ln>
        </p:spPr>
      </p:sp>
      <p:sp>
        <p:nvSpPr>
          <p:cNvPr id="71" name="Text 69"/>
          <p:cNvSpPr txBox="1"/>
          <p:nvPr/>
        </p:nvSpPr>
        <p:spPr>
          <a:xfrm>
            <a:off x="9133299" y="643936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9633359" y="6530802"/>
            <a:ext cx="185699" cy="0"/>
          </a:xfrm>
          <a:prstGeom prst="line">
            <a:avLst/>
          </a:prstGeom>
          <a:noFill/>
          <a:ln w="15875">
            <a:solidFill>
              <a:srgbClr val="B0413E"/>
            </a:solidFill>
            <a:prstDash val="solid"/>
            <a:tailEnd type="triangle"/>
          </a:ln>
        </p:spPr>
      </p:sp>
      <p:sp>
        <p:nvSpPr>
          <p:cNvPr id="73" name="Text 71"/>
          <p:cNvSpPr txBox="1"/>
          <p:nvPr/>
        </p:nvSpPr>
        <p:spPr>
          <a:xfrm>
            <a:off x="9858850" y="643936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10446453" y="6530802"/>
            <a:ext cx="185699" cy="0"/>
          </a:xfrm>
          <a:prstGeom prst="line">
            <a:avLst/>
          </a:prstGeom>
          <a:noFill/>
          <a:ln w="15875">
            <a:solidFill>
              <a:srgbClr val="7C8891"/>
            </a:solidFill>
            <a:prstDash val="dash"/>
            <a:tailEnd type="triangle"/>
          </a:ln>
        </p:spPr>
      </p:sp>
      <p:sp>
        <p:nvSpPr>
          <p:cNvPr id="75" name="Text 73"/>
          <p:cNvSpPr txBox="1"/>
          <p:nvPr/>
        </p:nvSpPr>
        <p:spPr>
          <a:xfrm>
            <a:off x="10671944" y="643936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external system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analysis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breakdown structure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503920" y="27432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view · Behavioral analysis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94476" y="1732070"/>
            <a:ext cx="0" cy="326463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1257710" y="2058534"/>
            <a:ext cx="4836766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710" y="2058534"/>
            <a:ext cx="0" cy="253916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1566" y="2784008"/>
            <a:ext cx="0" cy="453421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1566" y="3237429"/>
            <a:ext cx="92691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1566" y="2784008"/>
            <a:ext cx="0" cy="943117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1566" y="3727125"/>
            <a:ext cx="92691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1566" y="2784008"/>
            <a:ext cx="0" cy="1432812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1566" y="4216820"/>
            <a:ext cx="92691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1566" y="2784008"/>
            <a:ext cx="0" cy="1922507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1566" y="4706515"/>
            <a:ext cx="92691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94476" y="1732070"/>
            <a:ext cx="0" cy="326463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>
            <a:off x="2639643" y="2058534"/>
            <a:ext cx="3454833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39643" y="2058534"/>
            <a:ext cx="0" cy="253916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83499" y="2784008"/>
            <a:ext cx="0" cy="453421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83499" y="3237429"/>
            <a:ext cx="92691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83499" y="2784008"/>
            <a:ext cx="0" cy="943117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83499" y="3727125"/>
            <a:ext cx="92691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83499" y="2784008"/>
            <a:ext cx="0" cy="1432812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83499" y="4216820"/>
            <a:ext cx="92691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83499" y="2784008"/>
            <a:ext cx="0" cy="1922507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83499" y="4706515"/>
            <a:ext cx="92691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83499" y="2784008"/>
            <a:ext cx="0" cy="2412202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83499" y="5196210"/>
            <a:ext cx="92691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83499" y="2784008"/>
            <a:ext cx="0" cy="2901898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83499" y="5685905"/>
            <a:ext cx="92691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83499" y="2784008"/>
            <a:ext cx="0" cy="3391593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83499" y="6175601"/>
            <a:ext cx="92691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94476" y="1732070"/>
            <a:ext cx="0" cy="326463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>
            <a:off x="4021576" y="2058534"/>
            <a:ext cx="2072900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21576" y="2058534"/>
            <a:ext cx="0" cy="253916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65432" y="2784008"/>
            <a:ext cx="0" cy="453421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65432" y="3237429"/>
            <a:ext cx="92691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65432" y="2784008"/>
            <a:ext cx="0" cy="943117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65432" y="3727125"/>
            <a:ext cx="92691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65432" y="2784008"/>
            <a:ext cx="0" cy="1432812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65432" y="4216820"/>
            <a:ext cx="92691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65432" y="2784008"/>
            <a:ext cx="0" cy="1922507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65432" y="4706515"/>
            <a:ext cx="92691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65432" y="2784008"/>
            <a:ext cx="0" cy="2412202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465432" y="5196210"/>
            <a:ext cx="92691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465432" y="2784008"/>
            <a:ext cx="0" cy="2901898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465432" y="5685905"/>
            <a:ext cx="92691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94476" y="1732070"/>
            <a:ext cx="0" cy="326463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H="1">
            <a:off x="5403509" y="2058534"/>
            <a:ext cx="690967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03509" y="2058534"/>
            <a:ext cx="0" cy="253916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47366" y="2784008"/>
            <a:ext cx="0" cy="453421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47366" y="3237429"/>
            <a:ext cx="92691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47366" y="2784008"/>
            <a:ext cx="0" cy="943117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47366" y="3727125"/>
            <a:ext cx="92691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47366" y="2784008"/>
            <a:ext cx="0" cy="1432812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847366" y="4216820"/>
            <a:ext cx="92691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47366" y="2784008"/>
            <a:ext cx="0" cy="1922507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47366" y="4706515"/>
            <a:ext cx="92691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847366" y="2784008"/>
            <a:ext cx="0" cy="2412202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47366" y="5196210"/>
            <a:ext cx="92691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094476" y="1732070"/>
            <a:ext cx="0" cy="326463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094476" y="2058534"/>
            <a:ext cx="690967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85443" y="2058534"/>
            <a:ext cx="0" cy="253916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229299" y="2784008"/>
            <a:ext cx="0" cy="453421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229299" y="3237429"/>
            <a:ext cx="92691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229299" y="2784008"/>
            <a:ext cx="0" cy="943117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229299" y="3727125"/>
            <a:ext cx="92691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229299" y="2784008"/>
            <a:ext cx="0" cy="1432812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229299" y="4216820"/>
            <a:ext cx="92691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229299" y="2784008"/>
            <a:ext cx="0" cy="1922507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229299" y="4706515"/>
            <a:ext cx="92691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229299" y="2784008"/>
            <a:ext cx="0" cy="2412202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229299" y="5196210"/>
            <a:ext cx="92691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229299" y="2784008"/>
            <a:ext cx="0" cy="2901898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229299" y="5685905"/>
            <a:ext cx="92691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094476" y="1732070"/>
            <a:ext cx="0" cy="326463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094476" y="2058534"/>
            <a:ext cx="2072900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167376" y="2058534"/>
            <a:ext cx="0" cy="253916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611232" y="2784008"/>
            <a:ext cx="0" cy="453421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611232" y="3237429"/>
            <a:ext cx="92691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611232" y="2784008"/>
            <a:ext cx="0" cy="943117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611232" y="3727125"/>
            <a:ext cx="92691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611232" y="2784008"/>
            <a:ext cx="0" cy="1432812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611232" y="4216820"/>
            <a:ext cx="92691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611232" y="2784008"/>
            <a:ext cx="0" cy="1922507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611232" y="4706515"/>
            <a:ext cx="92691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094476" y="1732070"/>
            <a:ext cx="0" cy="326463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094476" y="2058534"/>
            <a:ext cx="3454833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549309" y="2058534"/>
            <a:ext cx="0" cy="253916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993165" y="2784008"/>
            <a:ext cx="0" cy="453421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993165" y="3237429"/>
            <a:ext cx="92691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993165" y="2784008"/>
            <a:ext cx="0" cy="943117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993165" y="3727125"/>
            <a:ext cx="92691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993165" y="2784008"/>
            <a:ext cx="0" cy="1432812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993165" y="4216820"/>
            <a:ext cx="92691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993165" y="2784008"/>
            <a:ext cx="0" cy="1922507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993165" y="4706515"/>
            <a:ext cx="92691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993165" y="2784008"/>
            <a:ext cx="0" cy="2412202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993165" y="5196210"/>
            <a:ext cx="92691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993165" y="2784008"/>
            <a:ext cx="0" cy="2901898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993165" y="5685905"/>
            <a:ext cx="92691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094476" y="1732070"/>
            <a:ext cx="0" cy="326463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094476" y="2058534"/>
            <a:ext cx="4836766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0931242" y="2058534"/>
            <a:ext cx="0" cy="253916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0375098" y="2784008"/>
            <a:ext cx="0" cy="453421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0375098" y="3237429"/>
            <a:ext cx="92691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375098" y="2784008"/>
            <a:ext cx="0" cy="943117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375098" y="3727125"/>
            <a:ext cx="92691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375098" y="2784008"/>
            <a:ext cx="0" cy="1432812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0375098" y="4216820"/>
            <a:ext cx="92691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0375098" y="2784008"/>
            <a:ext cx="0" cy="1922507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0375098" y="4706515"/>
            <a:ext cx="92691" cy="0"/>
          </a:xfrm>
          <a:prstGeom prst="line">
            <a:avLst/>
          </a:prstGeom>
          <a:noFill/>
          <a:ln w="12700">
            <a:solidFill>
              <a:srgbClr val="1F6FA3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577720" y="1260512"/>
            <a:ext cx="3033512" cy="471558"/>
          </a:xfrm>
          <a:prstGeom prst="roundRect">
            <a:avLst>
              <a:gd name="adj" fmla="val 11635"/>
            </a:avLst>
          </a:prstGeom>
          <a:solidFill>
            <a:srgbClr val="00587C"/>
          </a:solidFill>
          <a:ln w="12700">
            <a:solidFill>
              <a:srgbClr val="00587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drone</a:t>
            </a:r>
            <a:endParaRPr lang="en-US" sz="1300" dirty="0"/>
          </a:p>
        </p:txBody>
      </p:sp>
      <p:sp>
        <p:nvSpPr>
          <p:cNvPr id="114" name="Text 112"/>
          <p:cNvSpPr/>
          <p:nvPr/>
        </p:nvSpPr>
        <p:spPr>
          <a:xfrm>
            <a:off x="625728" y="2312450"/>
            <a:ext cx="1263963" cy="471558"/>
          </a:xfrm>
          <a:prstGeom prst="roundRect">
            <a:avLst>
              <a:gd name="adj" fmla="val 11635"/>
            </a:avLst>
          </a:prstGeom>
          <a:solidFill>
            <a:srgbClr val="E1002A"/>
          </a:solidFill>
          <a:ln w="12700">
            <a:solidFill>
              <a:srgbClr val="E1002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 Manage the mission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794257" y="3037924"/>
            <a:ext cx="1095435" cy="399011"/>
          </a:xfrm>
          <a:prstGeom prst="roundRect">
            <a:avLst>
              <a:gd name="adj" fmla="val 13750"/>
            </a:avLst>
          </a:prstGeom>
          <a:solidFill>
            <a:srgbClr val="9E3200"/>
          </a:solidFill>
          <a:ln w="12700">
            <a:solidFill>
              <a:srgbClr val="9E32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Receive the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order</a:t>
            </a:r>
            <a:endParaRPr lang="en-US" sz="750" dirty="0"/>
          </a:p>
        </p:txBody>
      </p:sp>
      <p:sp>
        <p:nvSpPr>
          <p:cNvPr id="116" name="Text 114"/>
          <p:cNvSpPr/>
          <p:nvPr/>
        </p:nvSpPr>
        <p:spPr>
          <a:xfrm>
            <a:off x="794257" y="3527619"/>
            <a:ext cx="1095435" cy="399011"/>
          </a:xfrm>
          <a:prstGeom prst="roundRect">
            <a:avLst>
              <a:gd name="adj" fmla="val 13750"/>
            </a:avLst>
          </a:prstGeom>
          <a:solidFill>
            <a:srgbClr val="9E3200"/>
          </a:solidFill>
          <a:ln w="12700">
            <a:solidFill>
              <a:srgbClr val="9E32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Plan the route</a:t>
            </a:r>
            <a:endParaRPr lang="en-US" sz="750" dirty="0"/>
          </a:p>
        </p:txBody>
      </p:sp>
      <p:sp>
        <p:nvSpPr>
          <p:cNvPr id="117" name="Text 115"/>
          <p:cNvSpPr/>
          <p:nvPr/>
        </p:nvSpPr>
        <p:spPr>
          <a:xfrm>
            <a:off x="794257" y="4017314"/>
            <a:ext cx="1095435" cy="399011"/>
          </a:xfrm>
          <a:prstGeom prst="roundRect">
            <a:avLst>
              <a:gd name="adj" fmla="val 13750"/>
            </a:avLst>
          </a:prstGeom>
          <a:solidFill>
            <a:srgbClr val="9E3200"/>
          </a:solidFill>
          <a:ln w="12700">
            <a:solidFill>
              <a:srgbClr val="9E32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 Obtain flight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750" dirty="0"/>
          </a:p>
        </p:txBody>
      </p:sp>
      <p:sp>
        <p:nvSpPr>
          <p:cNvPr id="118" name="Text 116"/>
          <p:cNvSpPr/>
          <p:nvPr/>
        </p:nvSpPr>
        <p:spPr>
          <a:xfrm>
            <a:off x="794257" y="4507010"/>
            <a:ext cx="1095435" cy="399011"/>
          </a:xfrm>
          <a:prstGeom prst="roundRect">
            <a:avLst>
              <a:gd name="adj" fmla="val 13750"/>
            </a:avLst>
          </a:prstGeom>
          <a:solidFill>
            <a:srgbClr val="9E3200"/>
          </a:solidFill>
          <a:ln w="12700">
            <a:solidFill>
              <a:srgbClr val="9E32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 Track and report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status</a:t>
            </a:r>
            <a:endParaRPr lang="en-US" sz="750" dirty="0"/>
          </a:p>
        </p:txBody>
      </p:sp>
      <p:sp>
        <p:nvSpPr>
          <p:cNvPr id="119" name="Text 117"/>
          <p:cNvSpPr/>
          <p:nvPr/>
        </p:nvSpPr>
        <p:spPr>
          <a:xfrm>
            <a:off x="2007662" y="2312450"/>
            <a:ext cx="1263963" cy="471558"/>
          </a:xfrm>
          <a:prstGeom prst="roundRect">
            <a:avLst>
              <a:gd name="adj" fmla="val 11635"/>
            </a:avLst>
          </a:prstGeom>
          <a:solidFill>
            <a:srgbClr val="E1002A"/>
          </a:solidFill>
          <a:ln w="12700">
            <a:solidFill>
              <a:srgbClr val="E1002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 Handle the package</a:t>
            </a:r>
            <a:endParaRPr lang="en-US" sz="900" dirty="0"/>
          </a:p>
        </p:txBody>
      </p:sp>
      <p:sp>
        <p:nvSpPr>
          <p:cNvPr id="120" name="Text 118"/>
          <p:cNvSpPr/>
          <p:nvPr/>
        </p:nvSpPr>
        <p:spPr>
          <a:xfrm>
            <a:off x="2176190" y="3037924"/>
            <a:ext cx="1095435" cy="399011"/>
          </a:xfrm>
          <a:prstGeom prst="roundRect">
            <a:avLst>
              <a:gd name="adj" fmla="val 13750"/>
            </a:avLst>
          </a:prstGeom>
          <a:solidFill>
            <a:srgbClr val="9E3200"/>
          </a:solidFill>
          <a:ln w="12700">
            <a:solidFill>
              <a:srgbClr val="9E32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Accept and lock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package</a:t>
            </a:r>
            <a:endParaRPr lang="en-US" sz="750" dirty="0"/>
          </a:p>
        </p:txBody>
      </p:sp>
      <p:sp>
        <p:nvSpPr>
          <p:cNvPr id="121" name="Text 119"/>
          <p:cNvSpPr/>
          <p:nvPr/>
        </p:nvSpPr>
        <p:spPr>
          <a:xfrm>
            <a:off x="2176190" y="3527619"/>
            <a:ext cx="1095435" cy="399011"/>
          </a:xfrm>
          <a:prstGeom prst="roundRect">
            <a:avLst>
              <a:gd name="adj" fmla="val 13750"/>
            </a:avLst>
          </a:prstGeom>
          <a:solidFill>
            <a:srgbClr val="9E3200"/>
          </a:solidFill>
          <a:ln w="12700">
            <a:solidFill>
              <a:srgbClr val="9E32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Measure the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mass</a:t>
            </a:r>
            <a:endParaRPr lang="en-US" sz="750" dirty="0"/>
          </a:p>
        </p:txBody>
      </p:sp>
      <p:sp>
        <p:nvSpPr>
          <p:cNvPr id="122" name="Text 120"/>
          <p:cNvSpPr/>
          <p:nvPr/>
        </p:nvSpPr>
        <p:spPr>
          <a:xfrm>
            <a:off x="2176190" y="4017314"/>
            <a:ext cx="1095435" cy="399011"/>
          </a:xfrm>
          <a:prstGeom prst="roundRect">
            <a:avLst>
              <a:gd name="adj" fmla="val 13750"/>
            </a:avLst>
          </a:prstGeom>
          <a:solidFill>
            <a:srgbClr val="9E3200"/>
          </a:solidFill>
          <a:ln w="12700">
            <a:solidFill>
              <a:srgbClr val="9E32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 Hold the package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flight</a:t>
            </a:r>
            <a:endParaRPr lang="en-US" sz="750" dirty="0"/>
          </a:p>
        </p:txBody>
      </p:sp>
      <p:sp>
        <p:nvSpPr>
          <p:cNvPr id="123" name="Text 121"/>
          <p:cNvSpPr/>
          <p:nvPr/>
        </p:nvSpPr>
        <p:spPr>
          <a:xfrm>
            <a:off x="2176190" y="4507010"/>
            <a:ext cx="1095435" cy="399011"/>
          </a:xfrm>
          <a:prstGeom prst="roundRect">
            <a:avLst>
              <a:gd name="adj" fmla="val 13750"/>
            </a:avLst>
          </a:prstGeom>
          <a:solidFill>
            <a:srgbClr val="9E3200"/>
          </a:solidFill>
          <a:ln w="12700">
            <a:solidFill>
              <a:srgbClr val="9E32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 Authenticate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recipient</a:t>
            </a:r>
            <a:endParaRPr lang="en-US" sz="750" dirty="0"/>
          </a:p>
        </p:txBody>
      </p:sp>
      <p:sp>
        <p:nvSpPr>
          <p:cNvPr id="124" name="Text 122"/>
          <p:cNvSpPr/>
          <p:nvPr/>
        </p:nvSpPr>
        <p:spPr>
          <a:xfrm>
            <a:off x="2176190" y="4996705"/>
            <a:ext cx="1095435" cy="399011"/>
          </a:xfrm>
          <a:prstGeom prst="roundRect">
            <a:avLst>
              <a:gd name="adj" fmla="val 13750"/>
            </a:avLst>
          </a:prstGeom>
          <a:solidFill>
            <a:srgbClr val="9E3200"/>
          </a:solidFill>
          <a:ln w="12700">
            <a:solidFill>
              <a:srgbClr val="9E32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 Deliver the package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recipient</a:t>
            </a:r>
            <a:endParaRPr lang="en-US" sz="750" dirty="0"/>
          </a:p>
        </p:txBody>
      </p:sp>
      <p:sp>
        <p:nvSpPr>
          <p:cNvPr id="125" name="Text 123"/>
          <p:cNvSpPr/>
          <p:nvPr/>
        </p:nvSpPr>
        <p:spPr>
          <a:xfrm>
            <a:off x="2176190" y="5486400"/>
            <a:ext cx="1095435" cy="399011"/>
          </a:xfrm>
          <a:prstGeom prst="roundRect">
            <a:avLst>
              <a:gd name="adj" fmla="val 13750"/>
            </a:avLst>
          </a:prstGeom>
          <a:solidFill>
            <a:srgbClr val="9E3200"/>
          </a:solidFill>
          <a:ln w="12700">
            <a:solidFill>
              <a:srgbClr val="9E32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  Provide proof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delivery</a:t>
            </a:r>
            <a:endParaRPr lang="en-US" sz="750" dirty="0"/>
          </a:p>
        </p:txBody>
      </p:sp>
      <p:sp>
        <p:nvSpPr>
          <p:cNvPr id="126" name="Text 124"/>
          <p:cNvSpPr/>
          <p:nvPr/>
        </p:nvSpPr>
        <p:spPr>
          <a:xfrm>
            <a:off x="2176190" y="5976095"/>
            <a:ext cx="1095435" cy="399011"/>
          </a:xfrm>
          <a:prstGeom prst="roundRect">
            <a:avLst>
              <a:gd name="adj" fmla="val 13750"/>
            </a:avLst>
          </a:prstGeom>
          <a:solidFill>
            <a:srgbClr val="9E3200"/>
          </a:solidFill>
          <a:ln w="12700">
            <a:solidFill>
              <a:srgbClr val="9E32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  Handle returns and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undelivered packages</a:t>
            </a:r>
            <a:endParaRPr lang="en-US" sz="750" dirty="0"/>
          </a:p>
        </p:txBody>
      </p:sp>
      <p:sp>
        <p:nvSpPr>
          <p:cNvPr id="127" name="Text 125"/>
          <p:cNvSpPr/>
          <p:nvPr/>
        </p:nvSpPr>
        <p:spPr>
          <a:xfrm>
            <a:off x="3389595" y="2312450"/>
            <a:ext cx="1263963" cy="471558"/>
          </a:xfrm>
          <a:prstGeom prst="roundRect">
            <a:avLst>
              <a:gd name="adj" fmla="val 11635"/>
            </a:avLst>
          </a:prstGeom>
          <a:solidFill>
            <a:srgbClr val="E1002A"/>
          </a:solidFill>
          <a:ln w="12700">
            <a:solidFill>
              <a:srgbClr val="E1002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 Move through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air</a:t>
            </a:r>
            <a:endParaRPr lang="en-US" sz="900" dirty="0"/>
          </a:p>
        </p:txBody>
      </p:sp>
      <p:sp>
        <p:nvSpPr>
          <p:cNvPr id="128" name="Text 126"/>
          <p:cNvSpPr/>
          <p:nvPr/>
        </p:nvSpPr>
        <p:spPr>
          <a:xfrm>
            <a:off x="3558123" y="3037924"/>
            <a:ext cx="1095435" cy="399011"/>
          </a:xfrm>
          <a:prstGeom prst="roundRect">
            <a:avLst>
              <a:gd name="adj" fmla="val 13750"/>
            </a:avLst>
          </a:prstGeom>
          <a:solidFill>
            <a:srgbClr val="9E3200"/>
          </a:solidFill>
          <a:ln w="12700">
            <a:solidFill>
              <a:srgbClr val="9E32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Generate thrust</a:t>
            </a:r>
            <a:endParaRPr lang="en-US" sz="750" dirty="0"/>
          </a:p>
        </p:txBody>
      </p:sp>
      <p:sp>
        <p:nvSpPr>
          <p:cNvPr id="129" name="Text 127"/>
          <p:cNvSpPr/>
          <p:nvPr/>
        </p:nvSpPr>
        <p:spPr>
          <a:xfrm>
            <a:off x="3558123" y="3527619"/>
            <a:ext cx="1095435" cy="399011"/>
          </a:xfrm>
          <a:prstGeom prst="roundRect">
            <a:avLst>
              <a:gd name="adj" fmla="val 13750"/>
            </a:avLst>
          </a:prstGeom>
          <a:solidFill>
            <a:srgbClr val="9E3200"/>
          </a:solidFill>
          <a:ln w="12700">
            <a:solidFill>
              <a:srgbClr val="9E32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Control attitude</a:t>
            </a:r>
            <a:endParaRPr lang="en-US" sz="750" dirty="0"/>
          </a:p>
        </p:txBody>
      </p:sp>
      <p:sp>
        <p:nvSpPr>
          <p:cNvPr id="130" name="Text 128"/>
          <p:cNvSpPr/>
          <p:nvPr/>
        </p:nvSpPr>
        <p:spPr>
          <a:xfrm>
            <a:off x="3558123" y="4017314"/>
            <a:ext cx="1095435" cy="399011"/>
          </a:xfrm>
          <a:prstGeom prst="roundRect">
            <a:avLst>
              <a:gd name="adj" fmla="val 13750"/>
            </a:avLst>
          </a:prstGeom>
          <a:solidFill>
            <a:srgbClr val="9E3200"/>
          </a:solidFill>
          <a:ln w="12700">
            <a:solidFill>
              <a:srgbClr val="9E32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Take off</a:t>
            </a:r>
            <a:endParaRPr lang="en-US" sz="750" dirty="0"/>
          </a:p>
        </p:txBody>
      </p:sp>
      <p:sp>
        <p:nvSpPr>
          <p:cNvPr id="131" name="Text 129"/>
          <p:cNvSpPr/>
          <p:nvPr/>
        </p:nvSpPr>
        <p:spPr>
          <a:xfrm>
            <a:off x="3558123" y="4507010"/>
            <a:ext cx="1095435" cy="399011"/>
          </a:xfrm>
          <a:prstGeom prst="roundRect">
            <a:avLst>
              <a:gd name="adj" fmla="val 13750"/>
            </a:avLst>
          </a:prstGeom>
          <a:solidFill>
            <a:srgbClr val="9E3200"/>
          </a:solidFill>
          <a:ln w="12700">
            <a:solidFill>
              <a:srgbClr val="9E32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 Hover in place</a:t>
            </a:r>
            <a:endParaRPr lang="en-US" sz="750" dirty="0"/>
          </a:p>
        </p:txBody>
      </p:sp>
      <p:sp>
        <p:nvSpPr>
          <p:cNvPr id="132" name="Text 130"/>
          <p:cNvSpPr/>
          <p:nvPr/>
        </p:nvSpPr>
        <p:spPr>
          <a:xfrm>
            <a:off x="3558123" y="4996705"/>
            <a:ext cx="1095435" cy="399011"/>
          </a:xfrm>
          <a:prstGeom prst="roundRect">
            <a:avLst>
              <a:gd name="adj" fmla="val 13750"/>
            </a:avLst>
          </a:prstGeom>
          <a:solidFill>
            <a:srgbClr val="9E3200"/>
          </a:solidFill>
          <a:ln w="12700">
            <a:solidFill>
              <a:srgbClr val="9E32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 Land</a:t>
            </a:r>
            <a:endParaRPr lang="en-US" sz="750" dirty="0"/>
          </a:p>
        </p:txBody>
      </p:sp>
      <p:sp>
        <p:nvSpPr>
          <p:cNvPr id="133" name="Text 131"/>
          <p:cNvSpPr/>
          <p:nvPr/>
        </p:nvSpPr>
        <p:spPr>
          <a:xfrm>
            <a:off x="3558123" y="5486400"/>
            <a:ext cx="1095435" cy="399011"/>
          </a:xfrm>
          <a:prstGeom prst="roundRect">
            <a:avLst>
              <a:gd name="adj" fmla="val 13750"/>
            </a:avLst>
          </a:prstGeom>
          <a:solidFill>
            <a:srgbClr val="9E3200"/>
          </a:solidFill>
          <a:ln w="12700">
            <a:solidFill>
              <a:srgbClr val="9E32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 Withstand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loads</a:t>
            </a:r>
            <a:endParaRPr lang="en-US" sz="750" dirty="0"/>
          </a:p>
        </p:txBody>
      </p:sp>
      <p:sp>
        <p:nvSpPr>
          <p:cNvPr id="134" name="Text 132"/>
          <p:cNvSpPr/>
          <p:nvPr/>
        </p:nvSpPr>
        <p:spPr>
          <a:xfrm>
            <a:off x="4771528" y="2312450"/>
            <a:ext cx="1263963" cy="471558"/>
          </a:xfrm>
          <a:prstGeom prst="roundRect">
            <a:avLst>
              <a:gd name="adj" fmla="val 11635"/>
            </a:avLst>
          </a:prstGeom>
          <a:solidFill>
            <a:srgbClr val="E1002A"/>
          </a:solidFill>
          <a:ln w="12700">
            <a:solidFill>
              <a:srgbClr val="E1002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 Navigate</a:t>
            </a:r>
            <a:endParaRPr lang="en-US" sz="900" dirty="0"/>
          </a:p>
        </p:txBody>
      </p:sp>
      <p:sp>
        <p:nvSpPr>
          <p:cNvPr id="135" name="Text 133"/>
          <p:cNvSpPr/>
          <p:nvPr/>
        </p:nvSpPr>
        <p:spPr>
          <a:xfrm>
            <a:off x="4940056" y="3037924"/>
            <a:ext cx="1095435" cy="399011"/>
          </a:xfrm>
          <a:prstGeom prst="roundRect">
            <a:avLst>
              <a:gd name="adj" fmla="val 13750"/>
            </a:avLst>
          </a:prstGeom>
          <a:solidFill>
            <a:srgbClr val="9E3200"/>
          </a:solidFill>
          <a:ln w="12700">
            <a:solidFill>
              <a:srgbClr val="9E32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Determine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position</a:t>
            </a:r>
            <a:endParaRPr lang="en-US" sz="750" dirty="0"/>
          </a:p>
        </p:txBody>
      </p:sp>
      <p:sp>
        <p:nvSpPr>
          <p:cNvPr id="136" name="Text 134"/>
          <p:cNvSpPr/>
          <p:nvPr/>
        </p:nvSpPr>
        <p:spPr>
          <a:xfrm>
            <a:off x="4940056" y="3527619"/>
            <a:ext cx="1095435" cy="399011"/>
          </a:xfrm>
          <a:prstGeom prst="roundRect">
            <a:avLst>
              <a:gd name="adj" fmla="val 13750"/>
            </a:avLst>
          </a:prstGeom>
          <a:solidFill>
            <a:srgbClr val="9E3200"/>
          </a:solidFill>
          <a:ln w="12700">
            <a:solidFill>
              <a:srgbClr val="9E32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Perceive the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750" dirty="0"/>
          </a:p>
        </p:txBody>
      </p:sp>
      <p:sp>
        <p:nvSpPr>
          <p:cNvPr id="137" name="Text 135"/>
          <p:cNvSpPr/>
          <p:nvPr/>
        </p:nvSpPr>
        <p:spPr>
          <a:xfrm>
            <a:off x="4940056" y="4017314"/>
            <a:ext cx="1095435" cy="399011"/>
          </a:xfrm>
          <a:prstGeom prst="roundRect">
            <a:avLst>
              <a:gd name="adj" fmla="val 13750"/>
            </a:avLst>
          </a:prstGeom>
          <a:solidFill>
            <a:srgbClr val="9E3200"/>
          </a:solidFill>
          <a:ln w="12700">
            <a:solidFill>
              <a:srgbClr val="9E32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 Detect and avoid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obstacles, aircraft</a:t>
            </a:r>
            <a:endParaRPr lang="en-US" sz="750" dirty="0"/>
          </a:p>
        </p:txBody>
      </p:sp>
      <p:sp>
        <p:nvSpPr>
          <p:cNvPr id="138" name="Text 136"/>
          <p:cNvSpPr/>
          <p:nvPr/>
        </p:nvSpPr>
        <p:spPr>
          <a:xfrm>
            <a:off x="4940056" y="4507010"/>
            <a:ext cx="1095435" cy="399011"/>
          </a:xfrm>
          <a:prstGeom prst="roundRect">
            <a:avLst>
              <a:gd name="adj" fmla="val 13750"/>
            </a:avLst>
          </a:prstGeom>
          <a:solidFill>
            <a:srgbClr val="9E3200"/>
          </a:solidFill>
          <a:ln w="12700">
            <a:solidFill>
              <a:srgbClr val="9E32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 Follow the route</a:t>
            </a:r>
            <a:endParaRPr lang="en-US" sz="750" dirty="0"/>
          </a:p>
        </p:txBody>
      </p:sp>
      <p:sp>
        <p:nvSpPr>
          <p:cNvPr id="139" name="Text 137"/>
          <p:cNvSpPr/>
          <p:nvPr/>
        </p:nvSpPr>
        <p:spPr>
          <a:xfrm>
            <a:off x="4940056" y="4996705"/>
            <a:ext cx="1095435" cy="399011"/>
          </a:xfrm>
          <a:prstGeom prst="roundRect">
            <a:avLst>
              <a:gd name="adj" fmla="val 13750"/>
            </a:avLst>
          </a:prstGeom>
          <a:solidFill>
            <a:srgbClr val="9E3200"/>
          </a:solidFill>
          <a:ln w="12700">
            <a:solidFill>
              <a:srgbClr val="9E32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 Identify and check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drop zone</a:t>
            </a:r>
            <a:endParaRPr lang="en-US" sz="750" dirty="0"/>
          </a:p>
        </p:txBody>
      </p:sp>
      <p:sp>
        <p:nvSpPr>
          <p:cNvPr id="140" name="Text 138"/>
          <p:cNvSpPr/>
          <p:nvPr/>
        </p:nvSpPr>
        <p:spPr>
          <a:xfrm>
            <a:off x="6153461" y="2312450"/>
            <a:ext cx="1263963" cy="471558"/>
          </a:xfrm>
          <a:prstGeom prst="roundRect">
            <a:avLst>
              <a:gd name="adj" fmla="val 11635"/>
            </a:avLst>
          </a:prstGeom>
          <a:solidFill>
            <a:srgbClr val="E1002A"/>
          </a:solidFill>
          <a:ln w="12700">
            <a:solidFill>
              <a:srgbClr val="E1002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 Communicate</a:t>
            </a:r>
            <a:endParaRPr lang="en-US" sz="900" dirty="0"/>
          </a:p>
        </p:txBody>
      </p:sp>
      <p:sp>
        <p:nvSpPr>
          <p:cNvPr id="141" name="Text 139"/>
          <p:cNvSpPr/>
          <p:nvPr/>
        </p:nvSpPr>
        <p:spPr>
          <a:xfrm>
            <a:off x="6321989" y="3037924"/>
            <a:ext cx="1095435" cy="399011"/>
          </a:xfrm>
          <a:prstGeom prst="roundRect">
            <a:avLst>
              <a:gd name="adj" fmla="val 13750"/>
            </a:avLst>
          </a:prstGeom>
          <a:solidFill>
            <a:srgbClr val="9E3200"/>
          </a:solidFill>
          <a:ln w="12700">
            <a:solidFill>
              <a:srgbClr val="9E32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 Exchange with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telepilot</a:t>
            </a:r>
            <a:endParaRPr lang="en-US" sz="750" dirty="0"/>
          </a:p>
        </p:txBody>
      </p:sp>
      <p:sp>
        <p:nvSpPr>
          <p:cNvPr id="142" name="Text 140"/>
          <p:cNvSpPr/>
          <p:nvPr/>
        </p:nvSpPr>
        <p:spPr>
          <a:xfrm>
            <a:off x="6321989" y="3527619"/>
            <a:ext cx="1095435" cy="399011"/>
          </a:xfrm>
          <a:prstGeom prst="roundRect">
            <a:avLst>
              <a:gd name="adj" fmla="val 13750"/>
            </a:avLst>
          </a:prstGeom>
          <a:solidFill>
            <a:srgbClr val="9E3200"/>
          </a:solidFill>
          <a:ln w="12700">
            <a:solidFill>
              <a:srgbClr val="9E32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 Exchange with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U-space (UTM)</a:t>
            </a:r>
            <a:endParaRPr lang="en-US" sz="750" dirty="0"/>
          </a:p>
        </p:txBody>
      </p:sp>
      <p:sp>
        <p:nvSpPr>
          <p:cNvPr id="143" name="Text 141"/>
          <p:cNvSpPr/>
          <p:nvPr/>
        </p:nvSpPr>
        <p:spPr>
          <a:xfrm>
            <a:off x="6321989" y="4017314"/>
            <a:ext cx="1095435" cy="399011"/>
          </a:xfrm>
          <a:prstGeom prst="roundRect">
            <a:avLst>
              <a:gd name="adj" fmla="val 13750"/>
            </a:avLst>
          </a:prstGeom>
          <a:solidFill>
            <a:srgbClr val="9E3200"/>
          </a:solidFill>
          <a:ln w="12700">
            <a:solidFill>
              <a:srgbClr val="9E32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 Interact with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recipient</a:t>
            </a:r>
            <a:endParaRPr lang="en-US" sz="750" dirty="0"/>
          </a:p>
        </p:txBody>
      </p:sp>
      <p:sp>
        <p:nvSpPr>
          <p:cNvPr id="144" name="Text 142"/>
          <p:cNvSpPr/>
          <p:nvPr/>
        </p:nvSpPr>
        <p:spPr>
          <a:xfrm>
            <a:off x="6321989" y="4507010"/>
            <a:ext cx="1095435" cy="399011"/>
          </a:xfrm>
          <a:prstGeom prst="roundRect">
            <a:avLst>
              <a:gd name="adj" fmla="val 13750"/>
            </a:avLst>
          </a:prstGeom>
          <a:solidFill>
            <a:srgbClr val="9E3200"/>
          </a:solidFill>
          <a:ln w="12700">
            <a:solidFill>
              <a:srgbClr val="9E32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  Identify itself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remotely</a:t>
            </a:r>
            <a:endParaRPr lang="en-US" sz="750" dirty="0"/>
          </a:p>
        </p:txBody>
      </p:sp>
      <p:sp>
        <p:nvSpPr>
          <p:cNvPr id="145" name="Text 143"/>
          <p:cNvSpPr/>
          <p:nvPr/>
        </p:nvSpPr>
        <p:spPr>
          <a:xfrm>
            <a:off x="6321989" y="4996705"/>
            <a:ext cx="1095435" cy="399011"/>
          </a:xfrm>
          <a:prstGeom prst="roundRect">
            <a:avLst>
              <a:gd name="adj" fmla="val 13750"/>
            </a:avLst>
          </a:prstGeom>
          <a:solidFill>
            <a:srgbClr val="9E3200"/>
          </a:solidFill>
          <a:ln w="12700">
            <a:solidFill>
              <a:srgbClr val="9E32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  Be visible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audible</a:t>
            </a:r>
            <a:endParaRPr lang="en-US" sz="750" dirty="0"/>
          </a:p>
        </p:txBody>
      </p:sp>
      <p:sp>
        <p:nvSpPr>
          <p:cNvPr id="146" name="Text 144"/>
          <p:cNvSpPr/>
          <p:nvPr/>
        </p:nvSpPr>
        <p:spPr>
          <a:xfrm>
            <a:off x="6321989" y="5486400"/>
            <a:ext cx="1095435" cy="399011"/>
          </a:xfrm>
          <a:prstGeom prst="roundRect">
            <a:avLst>
              <a:gd name="adj" fmla="val 13750"/>
            </a:avLst>
          </a:prstGeom>
          <a:solidFill>
            <a:srgbClr val="9E3200"/>
          </a:solidFill>
          <a:ln w="12700">
            <a:solidFill>
              <a:srgbClr val="9E32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  Secure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</a:t>
            </a:r>
            <a:endParaRPr lang="en-US" sz="750" dirty="0"/>
          </a:p>
        </p:txBody>
      </p:sp>
      <p:sp>
        <p:nvSpPr>
          <p:cNvPr id="147" name="Text 145"/>
          <p:cNvSpPr/>
          <p:nvPr/>
        </p:nvSpPr>
        <p:spPr>
          <a:xfrm>
            <a:off x="7535394" y="2312450"/>
            <a:ext cx="1263963" cy="471558"/>
          </a:xfrm>
          <a:prstGeom prst="roundRect">
            <a:avLst>
              <a:gd name="adj" fmla="val 11635"/>
            </a:avLst>
          </a:prstGeom>
          <a:solidFill>
            <a:srgbClr val="E1002A"/>
          </a:solidFill>
          <a:ln w="12700">
            <a:solidFill>
              <a:srgbClr val="E1002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  Manage energy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7703923" y="3037924"/>
            <a:ext cx="1095435" cy="399011"/>
          </a:xfrm>
          <a:prstGeom prst="roundRect">
            <a:avLst>
              <a:gd name="adj" fmla="val 13750"/>
            </a:avLst>
          </a:prstGeom>
          <a:solidFill>
            <a:srgbClr val="9E3200"/>
          </a:solidFill>
          <a:ln w="12700">
            <a:solidFill>
              <a:srgbClr val="9E32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 Receive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energy</a:t>
            </a:r>
            <a:endParaRPr lang="en-US" sz="750" dirty="0"/>
          </a:p>
        </p:txBody>
      </p:sp>
      <p:sp>
        <p:nvSpPr>
          <p:cNvPr id="149" name="Text 147"/>
          <p:cNvSpPr/>
          <p:nvPr/>
        </p:nvSpPr>
        <p:spPr>
          <a:xfrm>
            <a:off x="7703923" y="3527619"/>
            <a:ext cx="1095435" cy="399011"/>
          </a:xfrm>
          <a:prstGeom prst="roundRect">
            <a:avLst>
              <a:gd name="adj" fmla="val 13750"/>
            </a:avLst>
          </a:prstGeom>
          <a:solidFill>
            <a:srgbClr val="9E3200"/>
          </a:solidFill>
          <a:ln w="12700">
            <a:solidFill>
              <a:srgbClr val="9E32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 Store energy</a:t>
            </a:r>
            <a:endParaRPr lang="en-US" sz="750" dirty="0"/>
          </a:p>
        </p:txBody>
      </p:sp>
      <p:sp>
        <p:nvSpPr>
          <p:cNvPr id="150" name="Text 148"/>
          <p:cNvSpPr/>
          <p:nvPr/>
        </p:nvSpPr>
        <p:spPr>
          <a:xfrm>
            <a:off x="7703923" y="4017314"/>
            <a:ext cx="1095435" cy="399011"/>
          </a:xfrm>
          <a:prstGeom prst="roundRect">
            <a:avLst>
              <a:gd name="adj" fmla="val 13750"/>
            </a:avLst>
          </a:prstGeom>
          <a:solidFill>
            <a:srgbClr val="9E3200"/>
          </a:solidFill>
          <a:ln w="12700">
            <a:solidFill>
              <a:srgbClr val="9E32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 Monitor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state</a:t>
            </a:r>
            <a:endParaRPr lang="en-US" sz="750" dirty="0"/>
          </a:p>
        </p:txBody>
      </p:sp>
      <p:sp>
        <p:nvSpPr>
          <p:cNvPr id="151" name="Text 149"/>
          <p:cNvSpPr/>
          <p:nvPr/>
        </p:nvSpPr>
        <p:spPr>
          <a:xfrm>
            <a:off x="7703923" y="4507010"/>
            <a:ext cx="1095435" cy="399011"/>
          </a:xfrm>
          <a:prstGeom prst="roundRect">
            <a:avLst>
              <a:gd name="adj" fmla="val 13750"/>
            </a:avLst>
          </a:prstGeom>
          <a:solidFill>
            <a:srgbClr val="9E3200"/>
          </a:solidFill>
          <a:ln w="12700">
            <a:solidFill>
              <a:srgbClr val="9E32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 Distribute energy</a:t>
            </a:r>
            <a:endParaRPr lang="en-US" sz="750" dirty="0"/>
          </a:p>
        </p:txBody>
      </p:sp>
      <p:sp>
        <p:nvSpPr>
          <p:cNvPr id="152" name="Text 150"/>
          <p:cNvSpPr/>
          <p:nvPr/>
        </p:nvSpPr>
        <p:spPr>
          <a:xfrm>
            <a:off x="8917327" y="2312450"/>
            <a:ext cx="1263963" cy="471558"/>
          </a:xfrm>
          <a:prstGeom prst="roundRect">
            <a:avLst>
              <a:gd name="adj" fmla="val 11635"/>
            </a:avLst>
          </a:prstGeom>
          <a:solidFill>
            <a:srgbClr val="E1002A"/>
          </a:solidFill>
          <a:ln w="12700">
            <a:solidFill>
              <a:srgbClr val="E1002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  Ensure safety</a:t>
            </a:r>
            <a:endParaRPr lang="en-US" sz="900" dirty="0"/>
          </a:p>
        </p:txBody>
      </p:sp>
      <p:sp>
        <p:nvSpPr>
          <p:cNvPr id="153" name="Text 151"/>
          <p:cNvSpPr/>
          <p:nvPr/>
        </p:nvSpPr>
        <p:spPr>
          <a:xfrm>
            <a:off x="9085856" y="3037924"/>
            <a:ext cx="1095435" cy="399011"/>
          </a:xfrm>
          <a:prstGeom prst="roundRect">
            <a:avLst>
              <a:gd name="adj" fmla="val 13750"/>
            </a:avLst>
          </a:prstGeom>
          <a:solidFill>
            <a:srgbClr val="9E3200"/>
          </a:solidFill>
          <a:ln w="12700">
            <a:solidFill>
              <a:srgbClr val="9E32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  Monitor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health</a:t>
            </a:r>
            <a:endParaRPr lang="en-US" sz="750" dirty="0"/>
          </a:p>
        </p:txBody>
      </p:sp>
      <p:sp>
        <p:nvSpPr>
          <p:cNvPr id="154" name="Text 152"/>
          <p:cNvSpPr/>
          <p:nvPr/>
        </p:nvSpPr>
        <p:spPr>
          <a:xfrm>
            <a:off x="9085856" y="3527619"/>
            <a:ext cx="1095435" cy="399011"/>
          </a:xfrm>
          <a:prstGeom prst="roundRect">
            <a:avLst>
              <a:gd name="adj" fmla="val 13750"/>
            </a:avLst>
          </a:prstGeom>
          <a:solidFill>
            <a:srgbClr val="9E3200"/>
          </a:solidFill>
          <a:ln w="12700">
            <a:solidFill>
              <a:srgbClr val="9E32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 Respect flight zones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(geofencing)</a:t>
            </a:r>
            <a:endParaRPr lang="en-US" sz="750" dirty="0"/>
          </a:p>
        </p:txBody>
      </p:sp>
      <p:sp>
        <p:nvSpPr>
          <p:cNvPr id="155" name="Text 153"/>
          <p:cNvSpPr/>
          <p:nvPr/>
        </p:nvSpPr>
        <p:spPr>
          <a:xfrm>
            <a:off x="9085856" y="4017314"/>
            <a:ext cx="1095435" cy="399011"/>
          </a:xfrm>
          <a:prstGeom prst="roundRect">
            <a:avLst>
              <a:gd name="adj" fmla="val 13750"/>
            </a:avLst>
          </a:prstGeom>
          <a:solidFill>
            <a:srgbClr val="9E3200"/>
          </a:solidFill>
          <a:ln w="12700">
            <a:solidFill>
              <a:srgbClr val="9E32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  Manage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 modes</a:t>
            </a:r>
            <a:endParaRPr lang="en-US" sz="750" dirty="0"/>
          </a:p>
        </p:txBody>
      </p:sp>
      <p:sp>
        <p:nvSpPr>
          <p:cNvPr id="156" name="Text 154"/>
          <p:cNvSpPr/>
          <p:nvPr/>
        </p:nvSpPr>
        <p:spPr>
          <a:xfrm>
            <a:off x="9085856" y="4507010"/>
            <a:ext cx="1095435" cy="399011"/>
          </a:xfrm>
          <a:prstGeom prst="roundRect">
            <a:avLst>
              <a:gd name="adj" fmla="val 13750"/>
            </a:avLst>
          </a:prstGeom>
          <a:solidFill>
            <a:srgbClr val="9E3200"/>
          </a:solidFill>
          <a:ln w="12700">
            <a:solidFill>
              <a:srgbClr val="9E32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  Limit the severity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fall</a:t>
            </a:r>
            <a:endParaRPr lang="en-US" sz="750" dirty="0"/>
          </a:p>
        </p:txBody>
      </p:sp>
      <p:sp>
        <p:nvSpPr>
          <p:cNvPr id="157" name="Text 155"/>
          <p:cNvSpPr/>
          <p:nvPr/>
        </p:nvSpPr>
        <p:spPr>
          <a:xfrm>
            <a:off x="9085856" y="4996705"/>
            <a:ext cx="1095435" cy="399011"/>
          </a:xfrm>
          <a:prstGeom prst="roundRect">
            <a:avLst>
              <a:gd name="adj" fmla="val 13750"/>
            </a:avLst>
          </a:prstGeom>
          <a:solidFill>
            <a:srgbClr val="9E3200"/>
          </a:solidFill>
          <a:ln w="12700">
            <a:solidFill>
              <a:srgbClr val="9E32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 Withstand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weather</a:t>
            </a:r>
            <a:endParaRPr lang="en-US" sz="750" dirty="0"/>
          </a:p>
        </p:txBody>
      </p:sp>
      <p:sp>
        <p:nvSpPr>
          <p:cNvPr id="158" name="Text 156"/>
          <p:cNvSpPr/>
          <p:nvPr/>
        </p:nvSpPr>
        <p:spPr>
          <a:xfrm>
            <a:off x="9085856" y="5486400"/>
            <a:ext cx="1095435" cy="399011"/>
          </a:xfrm>
          <a:prstGeom prst="roundRect">
            <a:avLst>
              <a:gd name="adj" fmla="val 13750"/>
            </a:avLst>
          </a:prstGeom>
          <a:solidFill>
            <a:srgbClr val="9E3200"/>
          </a:solidFill>
          <a:ln w="12700">
            <a:solidFill>
              <a:srgbClr val="9E32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  Limit nuisance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(noise, privacy)</a:t>
            </a:r>
            <a:endParaRPr lang="en-US" sz="750" dirty="0"/>
          </a:p>
        </p:txBody>
      </p:sp>
      <p:sp>
        <p:nvSpPr>
          <p:cNvPr id="159" name="Text 157"/>
          <p:cNvSpPr/>
          <p:nvPr/>
        </p:nvSpPr>
        <p:spPr>
          <a:xfrm>
            <a:off x="10299260" y="2312450"/>
            <a:ext cx="1263963" cy="471558"/>
          </a:xfrm>
          <a:prstGeom prst="roundRect">
            <a:avLst>
              <a:gd name="adj" fmla="val 11635"/>
            </a:avLst>
          </a:prstGeom>
          <a:solidFill>
            <a:srgbClr val="E1002A"/>
          </a:solidFill>
          <a:ln w="12700">
            <a:solidFill>
              <a:srgbClr val="E1002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F8  Enable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900" dirty="0"/>
          </a:p>
        </p:txBody>
      </p:sp>
      <p:sp>
        <p:nvSpPr>
          <p:cNvPr id="160" name="Text 158"/>
          <p:cNvSpPr/>
          <p:nvPr/>
        </p:nvSpPr>
        <p:spPr>
          <a:xfrm>
            <a:off x="10467789" y="3037924"/>
            <a:ext cx="1095435" cy="399011"/>
          </a:xfrm>
          <a:prstGeom prst="roundRect">
            <a:avLst>
              <a:gd name="adj" fmla="val 13750"/>
            </a:avLst>
          </a:prstGeom>
          <a:solidFill>
            <a:srgbClr val="9E3200"/>
          </a:solidFill>
          <a:ln w="12700">
            <a:solidFill>
              <a:srgbClr val="9E32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  Record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data</a:t>
            </a:r>
            <a:endParaRPr lang="en-US" sz="750" dirty="0"/>
          </a:p>
        </p:txBody>
      </p:sp>
      <p:sp>
        <p:nvSpPr>
          <p:cNvPr id="161" name="Text 159"/>
          <p:cNvSpPr/>
          <p:nvPr/>
        </p:nvSpPr>
        <p:spPr>
          <a:xfrm>
            <a:off x="10467789" y="3527619"/>
            <a:ext cx="1095435" cy="399011"/>
          </a:xfrm>
          <a:prstGeom prst="roundRect">
            <a:avLst>
              <a:gd name="adj" fmla="val 13750"/>
            </a:avLst>
          </a:prstGeom>
          <a:solidFill>
            <a:srgbClr val="9E3200"/>
          </a:solidFill>
          <a:ln w="12700">
            <a:solidFill>
              <a:srgbClr val="9E32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  Diagnose failures</a:t>
            </a:r>
            <a:endParaRPr lang="en-US" sz="750" dirty="0"/>
          </a:p>
        </p:txBody>
      </p:sp>
      <p:sp>
        <p:nvSpPr>
          <p:cNvPr id="162" name="Text 160"/>
          <p:cNvSpPr/>
          <p:nvPr/>
        </p:nvSpPr>
        <p:spPr>
          <a:xfrm>
            <a:off x="10467789" y="4017314"/>
            <a:ext cx="1095435" cy="399011"/>
          </a:xfrm>
          <a:prstGeom prst="roundRect">
            <a:avLst>
              <a:gd name="adj" fmla="val 13750"/>
            </a:avLst>
          </a:prstGeom>
          <a:solidFill>
            <a:srgbClr val="9E3200"/>
          </a:solidFill>
          <a:ln w="12700">
            <a:solidFill>
              <a:srgbClr val="9E32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  Update software</a:t>
            </a:r>
            <a:endParaRPr lang="en-US" sz="750" dirty="0"/>
          </a:p>
        </p:txBody>
      </p:sp>
      <p:sp>
        <p:nvSpPr>
          <p:cNvPr id="163" name="Text 161"/>
          <p:cNvSpPr/>
          <p:nvPr/>
        </p:nvSpPr>
        <p:spPr>
          <a:xfrm>
            <a:off x="10467789" y="4507010"/>
            <a:ext cx="1095435" cy="399011"/>
          </a:xfrm>
          <a:prstGeom prst="roundRect">
            <a:avLst>
              <a:gd name="adj" fmla="val 13750"/>
            </a:avLst>
          </a:prstGeom>
          <a:solidFill>
            <a:srgbClr val="9E3200"/>
          </a:solidFill>
          <a:ln w="12700">
            <a:solidFill>
              <a:srgbClr val="9E32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  Allow module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check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503920" y="27432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flows → functions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7455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108960"/>
                <a:gridCol w="4297680"/>
                <a:gridCol w="2496312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actor / 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 with the drone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Covered by functions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2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Laws, standards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6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5.4, 7.2, 7.4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UTM / U-space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Flight authorizations, restricted areas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6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1.3, 5.2, 7.2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Climate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Wind, rain, temperature, humidity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6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3.2, 7.5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Urban environment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Obstacles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6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4.2, 4.3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airspace users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Collision risk, Remote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6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4.3, 5.4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parties / local residents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Noise, fall risk, privacy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6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5.5, 7.4, 7.6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 (loading, returns)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6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2.1, 2.2, 2.7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E-commerce ordering platform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order / delivery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6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1.1, 1.4, 2.6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6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Recipient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 package (returned package)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6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2.5, 2.7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6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Recipient's smartphone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Notification, pickup code, proof of delivery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6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2.4, 2.6, 5.3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07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Charging station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Electricity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6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07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GNSS constellation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Positioning signal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6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07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4G / 5G network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(telemetry, commands)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6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5.1, 5.6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07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 supervision operator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Mission commands, takeover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6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5.1, 7.3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07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 operator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 operations, diagnostics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6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8.1, 8.2, 8.3, 8.4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07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zone / parcel locker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 or drop surface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6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2.5, 3.5, 4.5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54864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1722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16 direct interactions are covered by at least one sub-function. Secondary systems (customer, energy grid) have no direct exchange with the drone.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analysis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interaction diagram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503920" y="27432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view · Structural analysis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330049" y="1664455"/>
            <a:ext cx="7940880" cy="4443490"/>
          </a:xfrm>
          <a:prstGeom prst="roundRect">
            <a:avLst>
              <a:gd name="adj" fmla="val 3087"/>
            </a:avLst>
          </a:prstGeom>
          <a:solidFill>
            <a:srgbClr val="D9D9D9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36290" y="1687315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drone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79877" y="1878968"/>
            <a:ext cx="2771817" cy="949987"/>
          </a:xfrm>
          <a:prstGeom prst="roundRect">
            <a:avLst>
              <a:gd name="adj" fmla="val 3850"/>
            </a:avLst>
          </a:prstGeom>
          <a:solidFill>
            <a:srgbClr val="2FA84F"/>
          </a:solidFill>
          <a:ln w="9525">
            <a:solidFill>
              <a:srgbClr val="2FA8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54791" y="1888112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551350" y="1878968"/>
            <a:ext cx="4569752" cy="582250"/>
          </a:xfrm>
          <a:prstGeom prst="roundRect">
            <a:avLst>
              <a:gd name="adj" fmla="val 6282"/>
            </a:avLst>
          </a:prstGeom>
          <a:solidFill>
            <a:srgbClr val="2FA84F"/>
          </a:solidFill>
          <a:ln w="9525">
            <a:solidFill>
              <a:srgbClr val="2FA8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36226" y="1888112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79877" y="3135403"/>
            <a:ext cx="1273537" cy="1899975"/>
          </a:xfrm>
          <a:prstGeom prst="roundRect">
            <a:avLst>
              <a:gd name="adj" fmla="val 2872"/>
            </a:avLst>
          </a:prstGeom>
          <a:solidFill>
            <a:srgbClr val="2FA84F"/>
          </a:solidFill>
          <a:ln w="9525">
            <a:solidFill>
              <a:srgbClr val="2FA8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54791" y="3144547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053070" y="3135403"/>
            <a:ext cx="3895526" cy="980632"/>
          </a:xfrm>
          <a:prstGeom prst="roundRect">
            <a:avLst>
              <a:gd name="adj" fmla="val 3730"/>
            </a:avLst>
          </a:prstGeom>
          <a:solidFill>
            <a:srgbClr val="2FA84F"/>
          </a:solidFill>
          <a:ln w="9525">
            <a:solidFill>
              <a:srgbClr val="2FA8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1694" y="3144547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Avionics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398080" y="3135403"/>
            <a:ext cx="1723021" cy="1899975"/>
          </a:xfrm>
          <a:prstGeom prst="roundRect">
            <a:avLst>
              <a:gd name="adj" fmla="val 2123"/>
            </a:avLst>
          </a:prstGeom>
          <a:solidFill>
            <a:srgbClr val="2FA84F"/>
          </a:solidFill>
          <a:ln w="9525">
            <a:solidFill>
              <a:srgbClr val="2FA8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72994" y="3144547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053070" y="4453128"/>
            <a:ext cx="3745698" cy="582250"/>
          </a:xfrm>
          <a:prstGeom prst="roundRect">
            <a:avLst>
              <a:gd name="adj" fmla="val 6282"/>
            </a:avLst>
          </a:prstGeom>
          <a:solidFill>
            <a:srgbClr val="2FA84F"/>
          </a:solidFill>
          <a:ln w="9525">
            <a:solidFill>
              <a:srgbClr val="2FA8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51694" y="4462272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Propulsion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479877" y="5341826"/>
            <a:ext cx="2771817" cy="612895"/>
          </a:xfrm>
          <a:prstGeom prst="roundRect">
            <a:avLst>
              <a:gd name="adj" fmla="val 5968"/>
            </a:avLst>
          </a:prstGeom>
          <a:solidFill>
            <a:srgbClr val="2FA84F"/>
          </a:solidFill>
          <a:ln w="9525">
            <a:solidFill>
              <a:srgbClr val="2FA8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54791" y="5350970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798769" y="5341826"/>
            <a:ext cx="2322333" cy="612895"/>
          </a:xfrm>
          <a:prstGeom prst="roundRect">
            <a:avLst>
              <a:gd name="adj" fmla="val 5968"/>
            </a:avLst>
          </a:prstGeom>
          <a:solidFill>
            <a:srgbClr val="2FA84F"/>
          </a:solidFill>
          <a:ln w="9525">
            <a:solidFill>
              <a:srgbClr val="2FA8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73683" y="5350970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805651" y="1443813"/>
            <a:ext cx="0" cy="1139985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05651" y="2583798"/>
            <a:ext cx="824054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191560" y="1443813"/>
            <a:ext cx="0" cy="606766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225575" y="1443813"/>
            <a:ext cx="0" cy="606766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headEnd type="triangl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574027" y="1443813"/>
            <a:ext cx="0" cy="606766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headEnd type="triangle"/>
            <a:tailEnd type="triangle"/>
          </a:ln>
        </p:spPr>
      </p:sp>
      <p:sp>
        <p:nvSpPr>
          <p:cNvPr id="28" name="Shape 26"/>
          <p:cNvSpPr/>
          <p:nvPr/>
        </p:nvSpPr>
        <p:spPr>
          <a:xfrm flipV="1">
            <a:off x="8922478" y="1443813"/>
            <a:ext cx="0" cy="606766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693280" y="2951535"/>
            <a:ext cx="2659446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headEnd type="triangle"/>
          </a:ln>
        </p:spPr>
      </p:sp>
      <p:sp>
        <p:nvSpPr>
          <p:cNvPr id="30" name="Shape 28"/>
          <p:cNvSpPr/>
          <p:nvPr/>
        </p:nvSpPr>
        <p:spPr>
          <a:xfrm>
            <a:off x="4352726" y="2951535"/>
            <a:ext cx="0" cy="520961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693280" y="3454109"/>
            <a:ext cx="861511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H="1">
            <a:off x="9896360" y="3870878"/>
            <a:ext cx="599312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896360" y="4299904"/>
            <a:ext cx="599312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H="1">
            <a:off x="9896360" y="4790220"/>
            <a:ext cx="599312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236914" y="4925057"/>
            <a:ext cx="0" cy="1372885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559247" y="5844400"/>
            <a:ext cx="0" cy="600637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59247" y="6445037"/>
            <a:ext cx="936425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101866" y="2828956"/>
            <a:ext cx="0" cy="214513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01866" y="3043469"/>
            <a:ext cx="1273537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75403" y="3043469"/>
            <a:ext cx="0" cy="429027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712516" y="2320253"/>
            <a:ext cx="0" cy="1152243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headEnd type="triangl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574027" y="2320253"/>
            <a:ext cx="0" cy="1152243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headEnd type="triangl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761312" y="3564430"/>
            <a:ext cx="374570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8135882" y="2982180"/>
            <a:ext cx="0" cy="58225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35882" y="2982180"/>
            <a:ext cx="786597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8922478" y="2320253"/>
            <a:ext cx="0" cy="661927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5738635" y="3687009"/>
            <a:ext cx="524398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headEnd type="triangl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3678501" y="3840233"/>
            <a:ext cx="561855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4614925" y="3901522"/>
            <a:ext cx="0" cy="753861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7761312" y="3840233"/>
            <a:ext cx="636769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headEnd type="triangl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7574027" y="3901522"/>
            <a:ext cx="0" cy="379995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574027" y="4281517"/>
            <a:ext cx="636769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10796" y="4281517"/>
            <a:ext cx="0" cy="1060309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3116646" y="3588946"/>
            <a:ext cx="0" cy="147095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3116646" y="4005715"/>
            <a:ext cx="0" cy="159353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headEnd type="triangle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3116646" y="4434741"/>
            <a:ext cx="0" cy="220642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3678501" y="4790220"/>
            <a:ext cx="449484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5101866" y="4790220"/>
            <a:ext cx="337113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6412860" y="4790220"/>
            <a:ext cx="337113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5925920" y="4925057"/>
            <a:ext cx="0" cy="784506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H="1">
            <a:off x="5251694" y="5709563"/>
            <a:ext cx="674226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3753415" y="5709563"/>
            <a:ext cx="224742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 flipV="1">
            <a:off x="9259591" y="3588946"/>
            <a:ext cx="0" cy="147095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9259591" y="4005715"/>
            <a:ext cx="0" cy="159353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65" name="Text 63"/>
          <p:cNvSpPr/>
          <p:nvPr/>
        </p:nvSpPr>
        <p:spPr>
          <a:xfrm>
            <a:off x="2629705" y="2050579"/>
            <a:ext cx="1123710" cy="269674"/>
          </a:xfrm>
          <a:prstGeom prst="roundRect">
            <a:avLst>
              <a:gd name="adj" fmla="val 20345"/>
            </a:avLst>
          </a:prstGeom>
          <a:solidFill>
            <a:srgbClr val="1B5E36"/>
          </a:solidFill>
          <a:ln w="12700">
            <a:solidFill>
              <a:srgbClr val="1B5E3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GNSS receiver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3978156" y="2050579"/>
            <a:ext cx="1123710" cy="269674"/>
          </a:xfrm>
          <a:prstGeom prst="roundRect">
            <a:avLst>
              <a:gd name="adj" fmla="val 20345"/>
            </a:avLst>
          </a:prstGeom>
          <a:solidFill>
            <a:srgbClr val="1B5E36"/>
          </a:solidFill>
          <a:ln w="12700">
            <a:solidFill>
              <a:srgbClr val="1B5E3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 cameras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2629705" y="2448961"/>
            <a:ext cx="1123710" cy="269674"/>
          </a:xfrm>
          <a:prstGeom prst="roundRect">
            <a:avLst>
              <a:gd name="adj" fmla="val 20345"/>
            </a:avLst>
          </a:prstGeom>
          <a:solidFill>
            <a:srgbClr val="1B5E36"/>
          </a:solidFill>
          <a:ln w="12700">
            <a:solidFill>
              <a:srgbClr val="1B5E3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3978156" y="2448961"/>
            <a:ext cx="1123710" cy="269674"/>
          </a:xfrm>
          <a:prstGeom prst="roundRect">
            <a:avLst>
              <a:gd name="adj" fmla="val 20345"/>
            </a:avLst>
          </a:prstGeom>
          <a:solidFill>
            <a:srgbClr val="1B5E36"/>
          </a:solidFill>
          <a:ln w="12700">
            <a:solidFill>
              <a:srgbClr val="1B5E3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sensors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5663721" y="2050579"/>
            <a:ext cx="1123710" cy="269674"/>
          </a:xfrm>
          <a:prstGeom prst="roundRect">
            <a:avLst>
              <a:gd name="adj" fmla="val 20345"/>
            </a:avLst>
          </a:prstGeom>
          <a:solidFill>
            <a:srgbClr val="1B5E36"/>
          </a:solidFill>
          <a:ln w="12700">
            <a:solidFill>
              <a:srgbClr val="1B5E3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4G/5G modem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antenna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7012172" y="2050579"/>
            <a:ext cx="1123710" cy="269674"/>
          </a:xfrm>
          <a:prstGeom prst="roundRect">
            <a:avLst>
              <a:gd name="adj" fmla="val 20345"/>
            </a:avLst>
          </a:prstGeom>
          <a:solidFill>
            <a:srgbClr val="1B5E36"/>
          </a:solidFill>
          <a:ln w="12700">
            <a:solidFill>
              <a:srgbClr val="1B5E3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C2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8360623" y="2050579"/>
            <a:ext cx="1123710" cy="269674"/>
          </a:xfrm>
          <a:prstGeom prst="roundRect">
            <a:avLst>
              <a:gd name="adj" fmla="val 20345"/>
            </a:avLst>
          </a:prstGeom>
          <a:solidFill>
            <a:srgbClr val="1B5E36"/>
          </a:solidFill>
          <a:ln w="12700">
            <a:solidFill>
              <a:srgbClr val="1B5E3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ID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2554791" y="3319272"/>
            <a:ext cx="1123710" cy="269674"/>
          </a:xfrm>
          <a:prstGeom prst="roundRect">
            <a:avLst>
              <a:gd name="adj" fmla="val 20345"/>
            </a:avLst>
          </a:prstGeom>
          <a:solidFill>
            <a:srgbClr val="1B5E36"/>
          </a:solidFill>
          <a:ln w="12700">
            <a:solidFill>
              <a:srgbClr val="1B5E3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2554791" y="3736041"/>
            <a:ext cx="1123710" cy="269674"/>
          </a:xfrm>
          <a:prstGeom prst="roundRect">
            <a:avLst>
              <a:gd name="adj" fmla="val 20345"/>
            </a:avLst>
          </a:prstGeom>
          <a:solidFill>
            <a:srgbClr val="1B5E36"/>
          </a:solidFill>
          <a:ln w="12700">
            <a:solidFill>
              <a:srgbClr val="1B5E3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BMS (battery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management)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2554791" y="4165067"/>
            <a:ext cx="1123710" cy="269674"/>
          </a:xfrm>
          <a:prstGeom prst="roundRect">
            <a:avLst>
              <a:gd name="adj" fmla="val 20345"/>
            </a:avLst>
          </a:prstGeom>
          <a:solidFill>
            <a:srgbClr val="1B5E36"/>
          </a:solidFill>
          <a:ln w="12700">
            <a:solidFill>
              <a:srgbClr val="1B5E3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Li-ion battery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2554791" y="4655383"/>
            <a:ext cx="1123710" cy="269674"/>
          </a:xfrm>
          <a:prstGeom prst="roundRect">
            <a:avLst>
              <a:gd name="adj" fmla="val 20345"/>
            </a:avLst>
          </a:prstGeom>
          <a:solidFill>
            <a:srgbClr val="1B5E36"/>
          </a:solidFill>
          <a:ln w="12700">
            <a:solidFill>
              <a:srgbClr val="1B5E3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distribution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4240355" y="3472496"/>
            <a:ext cx="1498279" cy="429027"/>
          </a:xfrm>
          <a:prstGeom prst="roundRect">
            <a:avLst>
              <a:gd name="adj" fmla="val 12788"/>
            </a:avLst>
          </a:prstGeom>
          <a:solidFill>
            <a:srgbClr val="1B5E36"/>
          </a:solidFill>
          <a:ln w="12700">
            <a:solidFill>
              <a:srgbClr val="1B5E3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controller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autopilot + firmware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IMU, barometer, compass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6263032" y="3472496"/>
            <a:ext cx="1498279" cy="429027"/>
          </a:xfrm>
          <a:prstGeom prst="roundRect">
            <a:avLst>
              <a:gd name="adj" fmla="val 12788"/>
            </a:avLst>
          </a:prstGeom>
          <a:solidFill>
            <a:srgbClr val="1B5E36"/>
          </a:solidFill>
          <a:ln w="12700">
            <a:solidFill>
              <a:srgbClr val="1B5E3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computer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+ mission, navigation,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avoidance software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8622822" y="3319272"/>
            <a:ext cx="1273537" cy="269674"/>
          </a:xfrm>
          <a:prstGeom prst="roundRect">
            <a:avLst>
              <a:gd name="adj" fmla="val 20345"/>
            </a:avLst>
          </a:prstGeom>
          <a:solidFill>
            <a:srgbClr val="1B5E36"/>
          </a:solidFill>
          <a:ln w="12700">
            <a:solidFill>
              <a:srgbClr val="1B5E3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cell (mass)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8622822" y="3736041"/>
            <a:ext cx="1273537" cy="269674"/>
          </a:xfrm>
          <a:prstGeom prst="roundRect">
            <a:avLst>
              <a:gd name="adj" fmla="val 20345"/>
            </a:avLst>
          </a:prstGeom>
          <a:solidFill>
            <a:srgbClr val="1B5E36"/>
          </a:solidFill>
          <a:ln w="12700">
            <a:solidFill>
              <a:srgbClr val="1B5E3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bay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lock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8622822" y="4165067"/>
            <a:ext cx="1273537" cy="269674"/>
          </a:xfrm>
          <a:prstGeom prst="roundRect">
            <a:avLst>
              <a:gd name="adj" fmla="val 20345"/>
            </a:avLst>
          </a:prstGeom>
          <a:solidFill>
            <a:srgbClr val="1B5E36"/>
          </a:solidFill>
          <a:ln w="12700">
            <a:solidFill>
              <a:srgbClr val="1B5E3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Winch + tether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8622822" y="4655383"/>
            <a:ext cx="1273537" cy="269674"/>
          </a:xfrm>
          <a:prstGeom prst="roundRect">
            <a:avLst>
              <a:gd name="adj" fmla="val 20345"/>
            </a:avLst>
          </a:prstGeom>
          <a:solidFill>
            <a:srgbClr val="1B5E36"/>
          </a:solidFill>
          <a:ln w="12700">
            <a:solidFill>
              <a:srgbClr val="1B5E3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Drop-zone camera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4127984" y="4655383"/>
            <a:ext cx="973882" cy="269674"/>
          </a:xfrm>
          <a:prstGeom prst="roundRect">
            <a:avLst>
              <a:gd name="adj" fmla="val 20345"/>
            </a:avLst>
          </a:prstGeom>
          <a:solidFill>
            <a:srgbClr val="1B5E36"/>
          </a:solidFill>
          <a:ln w="12700">
            <a:solidFill>
              <a:srgbClr val="1B5E3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controllers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(ESC) ×4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5438979" y="4655383"/>
            <a:ext cx="973882" cy="269674"/>
          </a:xfrm>
          <a:prstGeom prst="roundRect">
            <a:avLst>
              <a:gd name="adj" fmla="val 20345"/>
            </a:avLst>
          </a:prstGeom>
          <a:solidFill>
            <a:srgbClr val="1B5E36"/>
          </a:solidFill>
          <a:ln w="12700">
            <a:solidFill>
              <a:srgbClr val="1B5E3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Brushless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 ×4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6749973" y="4655383"/>
            <a:ext cx="973882" cy="269674"/>
          </a:xfrm>
          <a:prstGeom prst="roundRect">
            <a:avLst>
              <a:gd name="adj" fmla="val 20345"/>
            </a:avLst>
          </a:prstGeom>
          <a:solidFill>
            <a:srgbClr val="1B5E36"/>
          </a:solidFill>
          <a:ln w="12700">
            <a:solidFill>
              <a:srgbClr val="1B5E3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Propellers ×4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2629705" y="5574726"/>
            <a:ext cx="1123710" cy="269674"/>
          </a:xfrm>
          <a:prstGeom prst="roundRect">
            <a:avLst>
              <a:gd name="adj" fmla="val 20345"/>
            </a:avLst>
          </a:prstGeom>
          <a:solidFill>
            <a:srgbClr val="1B5E36"/>
          </a:solidFill>
          <a:ln w="12700">
            <a:solidFill>
              <a:srgbClr val="1B5E3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frame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arms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3978156" y="5574726"/>
            <a:ext cx="1123710" cy="269674"/>
          </a:xfrm>
          <a:prstGeom prst="roundRect">
            <a:avLst>
              <a:gd name="adj" fmla="val 20345"/>
            </a:avLst>
          </a:prstGeom>
          <a:solidFill>
            <a:srgbClr val="1B5E36"/>
          </a:solidFill>
          <a:ln w="12700">
            <a:solidFill>
              <a:srgbClr val="1B5E3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gear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7911140" y="5574726"/>
            <a:ext cx="1048796" cy="269674"/>
          </a:xfrm>
          <a:prstGeom prst="roundRect">
            <a:avLst>
              <a:gd name="adj" fmla="val 20345"/>
            </a:avLst>
          </a:prstGeom>
          <a:solidFill>
            <a:srgbClr val="1B5E36"/>
          </a:solidFill>
          <a:ln w="12700">
            <a:solidFill>
              <a:srgbClr val="1B5E3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Parachute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9034849" y="5574726"/>
            <a:ext cx="1048796" cy="269674"/>
          </a:xfrm>
          <a:prstGeom prst="roundRect">
            <a:avLst>
              <a:gd name="adj" fmla="val 20345"/>
            </a:avLst>
          </a:prstGeom>
          <a:solidFill>
            <a:srgbClr val="1B5E36"/>
          </a:solidFill>
          <a:ln w="12700">
            <a:solidFill>
              <a:srgbClr val="1B5E3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speaker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1243797" y="1149623"/>
            <a:ext cx="1123710" cy="294190"/>
          </a:xfrm>
          <a:prstGeom prst="roundRect">
            <a:avLst>
              <a:gd name="adj" fmla="val 18649"/>
            </a:avLst>
          </a:prstGeom>
          <a:solidFill>
            <a:srgbClr val="0B6FB0"/>
          </a:solidFill>
          <a:ln w="12700">
            <a:solidFill>
              <a:srgbClr val="0B6FB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environment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(obstacles)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2629705" y="1149623"/>
            <a:ext cx="1123710" cy="294190"/>
          </a:xfrm>
          <a:prstGeom prst="roundRect">
            <a:avLst>
              <a:gd name="adj" fmla="val 18649"/>
            </a:avLst>
          </a:prstGeom>
          <a:solidFill>
            <a:srgbClr val="0B6FB0"/>
          </a:solidFill>
          <a:ln w="12700">
            <a:solidFill>
              <a:srgbClr val="0B6FB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GNSS constellation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5663721" y="1149623"/>
            <a:ext cx="1123710" cy="294190"/>
          </a:xfrm>
          <a:prstGeom prst="roundRect">
            <a:avLst>
              <a:gd name="adj" fmla="val 18649"/>
            </a:avLst>
          </a:prstGeom>
          <a:solidFill>
            <a:srgbClr val="0B6FB0"/>
          </a:solidFill>
          <a:ln w="12700">
            <a:solidFill>
              <a:srgbClr val="0B6FB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4G/5G network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7012172" y="1149623"/>
            <a:ext cx="1123710" cy="294190"/>
          </a:xfrm>
          <a:prstGeom prst="roundRect">
            <a:avLst>
              <a:gd name="adj" fmla="val 18649"/>
            </a:avLst>
          </a:prstGeom>
          <a:solidFill>
            <a:srgbClr val="0B6FB0"/>
          </a:solidFill>
          <a:ln w="12700">
            <a:solidFill>
              <a:srgbClr val="0B6FB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supervision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8360623" y="1149623"/>
            <a:ext cx="1123710" cy="294190"/>
          </a:xfrm>
          <a:prstGeom prst="roundRect">
            <a:avLst>
              <a:gd name="adj" fmla="val 18649"/>
            </a:avLst>
          </a:prstGeom>
          <a:solidFill>
            <a:srgbClr val="0B6FB0"/>
          </a:solidFill>
          <a:ln w="12700">
            <a:solidFill>
              <a:srgbClr val="0B6FB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ID receivers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(authorities)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569571" y="2804440"/>
            <a:ext cx="1123710" cy="294190"/>
          </a:xfrm>
          <a:prstGeom prst="roundRect">
            <a:avLst>
              <a:gd name="adj" fmla="val 18649"/>
            </a:avLst>
          </a:prstGeom>
          <a:solidFill>
            <a:srgbClr val="0B6FB0"/>
          </a:solidFill>
          <a:ln w="12700">
            <a:solidFill>
              <a:srgbClr val="0B6FB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569571" y="3307014"/>
            <a:ext cx="1123710" cy="294190"/>
          </a:xfrm>
          <a:prstGeom prst="roundRect">
            <a:avLst>
              <a:gd name="adj" fmla="val 18649"/>
            </a:avLst>
          </a:prstGeom>
          <a:solidFill>
            <a:srgbClr val="0B6FB0"/>
          </a:solidFill>
          <a:ln w="12700">
            <a:solidFill>
              <a:srgbClr val="0B6FB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10495672" y="3723783"/>
            <a:ext cx="1123710" cy="294190"/>
          </a:xfrm>
          <a:prstGeom prst="roundRect">
            <a:avLst>
              <a:gd name="adj" fmla="val 18649"/>
            </a:avLst>
          </a:prstGeom>
          <a:solidFill>
            <a:srgbClr val="0B6FB0"/>
          </a:solidFill>
          <a:ln w="12700">
            <a:solidFill>
              <a:srgbClr val="0B6FB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10495672" y="4152809"/>
            <a:ext cx="1123710" cy="294190"/>
          </a:xfrm>
          <a:prstGeom prst="roundRect">
            <a:avLst>
              <a:gd name="adj" fmla="val 18649"/>
            </a:avLst>
          </a:prstGeom>
          <a:solidFill>
            <a:srgbClr val="0B6FB0"/>
          </a:solidFill>
          <a:ln w="12700">
            <a:solidFill>
              <a:srgbClr val="0B6FB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10495672" y="4643125"/>
            <a:ext cx="1123710" cy="294190"/>
          </a:xfrm>
          <a:prstGeom prst="roundRect">
            <a:avLst>
              <a:gd name="adj" fmla="val 18649"/>
            </a:avLst>
          </a:prstGeom>
          <a:solidFill>
            <a:srgbClr val="0B6FB0"/>
          </a:solidFill>
          <a:ln w="12700">
            <a:solidFill>
              <a:srgbClr val="0B6FB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Recipient's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10495672" y="6297942"/>
            <a:ext cx="1123710" cy="294190"/>
          </a:xfrm>
          <a:prstGeom prst="roundRect">
            <a:avLst>
              <a:gd name="adj" fmla="val 18649"/>
            </a:avLst>
          </a:prstGeom>
          <a:solidFill>
            <a:srgbClr val="0B6FB0"/>
          </a:solidFill>
          <a:ln w="12700">
            <a:solidFill>
              <a:srgbClr val="0B6FB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parties /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6675059" y="6297942"/>
            <a:ext cx="1123710" cy="294190"/>
          </a:xfrm>
          <a:prstGeom prst="roundRect">
            <a:avLst>
              <a:gd name="adj" fmla="val 18649"/>
            </a:avLst>
          </a:prstGeom>
          <a:solidFill>
            <a:srgbClr val="0B6FB0"/>
          </a:solidFill>
          <a:ln w="12700">
            <a:solidFill>
              <a:srgbClr val="0B6FB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Atmosphere (air)</a:t>
            </a:r>
            <a:endParaRPr lang="en-US" sz="750" dirty="0"/>
          </a:p>
        </p:txBody>
      </p:sp>
      <p:sp>
        <p:nvSpPr>
          <p:cNvPr id="101" name="Text 99"/>
          <p:cNvSpPr txBox="1"/>
          <p:nvPr/>
        </p:nvSpPr>
        <p:spPr>
          <a:xfrm>
            <a:off x="1471006" y="1884265"/>
            <a:ext cx="669290" cy="2590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Light, echoes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(obstacles)</a:t>
            </a:r>
            <a:endParaRPr lang="en-US" sz="700" dirty="0"/>
          </a:p>
        </p:txBody>
      </p:sp>
      <p:sp>
        <p:nvSpPr>
          <p:cNvPr id="102" name="Text 100"/>
          <p:cNvSpPr txBox="1"/>
          <p:nvPr/>
        </p:nvSpPr>
        <p:spPr>
          <a:xfrm>
            <a:off x="2901365" y="1477934"/>
            <a:ext cx="580390" cy="1524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GNSS signal</a:t>
            </a:r>
            <a:endParaRPr lang="en-US" sz="700" dirty="0"/>
          </a:p>
        </p:txBody>
      </p:sp>
      <p:sp>
        <p:nvSpPr>
          <p:cNvPr id="103" name="Text 101"/>
          <p:cNvSpPr txBox="1"/>
          <p:nvPr/>
        </p:nvSpPr>
        <p:spPr>
          <a:xfrm>
            <a:off x="5757580" y="1477934"/>
            <a:ext cx="935990" cy="1524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Telemetry, commands</a:t>
            </a:r>
            <a:endParaRPr lang="en-US" sz="700" dirty="0"/>
          </a:p>
        </p:txBody>
      </p:sp>
      <p:sp>
        <p:nvSpPr>
          <p:cNvPr id="104" name="Text 102"/>
          <p:cNvSpPr txBox="1"/>
          <p:nvPr/>
        </p:nvSpPr>
        <p:spPr>
          <a:xfrm>
            <a:off x="7283832" y="1477934"/>
            <a:ext cx="580390" cy="1524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commands</a:t>
            </a:r>
            <a:endParaRPr lang="en-US" sz="700" dirty="0"/>
          </a:p>
        </p:txBody>
      </p:sp>
      <p:sp>
        <p:nvSpPr>
          <p:cNvPr id="105" name="Text 103"/>
          <p:cNvSpPr txBox="1"/>
          <p:nvPr/>
        </p:nvSpPr>
        <p:spPr>
          <a:xfrm>
            <a:off x="8565608" y="1477934"/>
            <a:ext cx="713740" cy="1524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700" dirty="0"/>
          </a:p>
        </p:txBody>
      </p:sp>
      <p:sp>
        <p:nvSpPr>
          <p:cNvPr id="106" name="Text 104"/>
          <p:cNvSpPr txBox="1"/>
          <p:nvPr/>
        </p:nvSpPr>
        <p:spPr>
          <a:xfrm>
            <a:off x="2529038" y="2875335"/>
            <a:ext cx="980440" cy="152400"/>
          </a:xfrm>
          <a:prstGeom prst="rect">
            <a:avLst/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logs, updates</a:t>
            </a:r>
            <a:endParaRPr lang="en-US" sz="700" dirty="0"/>
          </a:p>
        </p:txBody>
      </p:sp>
      <p:sp>
        <p:nvSpPr>
          <p:cNvPr id="107" name="Text 105"/>
          <p:cNvSpPr txBox="1"/>
          <p:nvPr/>
        </p:nvSpPr>
        <p:spPr>
          <a:xfrm>
            <a:off x="1833841" y="3377909"/>
            <a:ext cx="580390" cy="1524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</a:t>
            </a:r>
            <a:endParaRPr lang="en-US" sz="700" dirty="0"/>
          </a:p>
        </p:txBody>
      </p:sp>
      <p:sp>
        <p:nvSpPr>
          <p:cNvPr id="108" name="Text 106"/>
          <p:cNvSpPr txBox="1"/>
          <p:nvPr/>
        </p:nvSpPr>
        <p:spPr>
          <a:xfrm>
            <a:off x="9994721" y="3794678"/>
            <a:ext cx="402590" cy="152400"/>
          </a:xfrm>
          <a:prstGeom prst="rect">
            <a:avLst/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700" dirty="0"/>
          </a:p>
        </p:txBody>
      </p:sp>
      <p:sp>
        <p:nvSpPr>
          <p:cNvPr id="109" name="Text 107"/>
          <p:cNvSpPr txBox="1"/>
          <p:nvPr/>
        </p:nvSpPr>
        <p:spPr>
          <a:xfrm>
            <a:off x="9772471" y="4223704"/>
            <a:ext cx="847090" cy="152400"/>
          </a:xfrm>
          <a:prstGeom prst="rect">
            <a:avLst/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package</a:t>
            </a:r>
            <a:endParaRPr lang="en-US" sz="700" dirty="0"/>
          </a:p>
        </p:txBody>
      </p:sp>
      <p:sp>
        <p:nvSpPr>
          <p:cNvPr id="110" name="Text 108"/>
          <p:cNvSpPr txBox="1"/>
          <p:nvPr/>
        </p:nvSpPr>
        <p:spPr>
          <a:xfrm>
            <a:off x="9839146" y="4714020"/>
            <a:ext cx="713740" cy="152400"/>
          </a:xfrm>
          <a:prstGeom prst="rect">
            <a:avLst/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QR code</a:t>
            </a:r>
            <a:endParaRPr lang="en-US" sz="700" dirty="0"/>
          </a:p>
        </p:txBody>
      </p:sp>
      <p:sp>
        <p:nvSpPr>
          <p:cNvPr id="111" name="Text 109"/>
          <p:cNvSpPr txBox="1"/>
          <p:nvPr/>
        </p:nvSpPr>
        <p:spPr>
          <a:xfrm>
            <a:off x="7057844" y="5541429"/>
            <a:ext cx="358140" cy="152400"/>
          </a:xfrm>
          <a:prstGeom prst="rect">
            <a:avLst/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Thrust</a:t>
            </a:r>
            <a:endParaRPr lang="en-US" sz="700" dirty="0"/>
          </a:p>
        </p:txBody>
      </p:sp>
      <p:sp>
        <p:nvSpPr>
          <p:cNvPr id="112" name="Text 110"/>
          <p:cNvSpPr txBox="1"/>
          <p:nvPr/>
        </p:nvSpPr>
        <p:spPr>
          <a:xfrm>
            <a:off x="9711294" y="6368837"/>
            <a:ext cx="624840" cy="1524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Light, sound</a:t>
            </a:r>
            <a:endParaRPr lang="en-US" sz="700" dirty="0"/>
          </a:p>
        </p:txBody>
      </p:sp>
      <p:sp>
        <p:nvSpPr>
          <p:cNvPr id="113" name="Text 111"/>
          <p:cNvSpPr txBox="1"/>
          <p:nvPr/>
        </p:nvSpPr>
        <p:spPr>
          <a:xfrm>
            <a:off x="5315090" y="2913929"/>
            <a:ext cx="847090" cy="259080"/>
          </a:xfrm>
          <a:prstGeom prst="rect">
            <a:avLst/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Position, images,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distances</a:t>
            </a:r>
            <a:endParaRPr lang="en-US" sz="700" dirty="0"/>
          </a:p>
        </p:txBody>
      </p:sp>
      <p:sp>
        <p:nvSpPr>
          <p:cNvPr id="114" name="Text 112"/>
          <p:cNvSpPr txBox="1"/>
          <p:nvPr/>
        </p:nvSpPr>
        <p:spPr>
          <a:xfrm>
            <a:off x="6466771" y="2699416"/>
            <a:ext cx="491490" cy="259080"/>
          </a:xfrm>
          <a:prstGeom prst="rect">
            <a:avLst/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Mission,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700" dirty="0"/>
          </a:p>
        </p:txBody>
      </p:sp>
      <p:sp>
        <p:nvSpPr>
          <p:cNvPr id="115" name="Text 113"/>
          <p:cNvSpPr txBox="1"/>
          <p:nvPr/>
        </p:nvSpPr>
        <p:spPr>
          <a:xfrm>
            <a:off x="7328282" y="2752756"/>
            <a:ext cx="491490" cy="152400"/>
          </a:xfrm>
          <a:prstGeom prst="rect">
            <a:avLst/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C2</a:t>
            </a:r>
            <a:endParaRPr lang="en-US" sz="700" dirty="0"/>
          </a:p>
        </p:txBody>
      </p:sp>
      <p:sp>
        <p:nvSpPr>
          <p:cNvPr id="116" name="Text 114"/>
          <p:cNvSpPr txBox="1"/>
          <p:nvPr/>
        </p:nvSpPr>
        <p:spPr>
          <a:xfrm>
            <a:off x="8220506" y="2905980"/>
            <a:ext cx="624840" cy="152400"/>
          </a:xfrm>
          <a:prstGeom prst="rect">
            <a:avLst/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Position, ID</a:t>
            </a:r>
            <a:endParaRPr lang="en-US" sz="700" dirty="0"/>
          </a:p>
        </p:txBody>
      </p:sp>
      <p:sp>
        <p:nvSpPr>
          <p:cNvPr id="117" name="Text 115"/>
          <p:cNvSpPr txBox="1"/>
          <p:nvPr/>
        </p:nvSpPr>
        <p:spPr>
          <a:xfrm>
            <a:off x="5732864" y="3557469"/>
            <a:ext cx="535940" cy="259080"/>
          </a:xfrm>
          <a:prstGeom prst="rect">
            <a:avLst/>
          </a:prstGeom>
          <a:solidFill>
            <a:srgbClr val="2FA8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Setpoints,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00" dirty="0"/>
          </a:p>
        </p:txBody>
      </p:sp>
      <p:sp>
        <p:nvSpPr>
          <p:cNvPr id="118" name="Text 116"/>
          <p:cNvSpPr txBox="1"/>
          <p:nvPr/>
        </p:nvSpPr>
        <p:spPr>
          <a:xfrm>
            <a:off x="3758133" y="3710693"/>
            <a:ext cx="402590" cy="259080"/>
          </a:xfrm>
          <a:prstGeom prst="rect">
            <a:avLst/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00" dirty="0"/>
          </a:p>
        </p:txBody>
      </p:sp>
      <p:sp>
        <p:nvSpPr>
          <p:cNvPr id="119" name="Text 117"/>
          <p:cNvSpPr txBox="1"/>
          <p:nvPr/>
        </p:nvSpPr>
        <p:spPr>
          <a:xfrm>
            <a:off x="4391405" y="4151977"/>
            <a:ext cx="447040" cy="259080"/>
          </a:xfrm>
          <a:prstGeom prst="rect">
            <a:avLst/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  <a:endParaRPr lang="en-US" sz="700" dirty="0"/>
          </a:p>
        </p:txBody>
      </p:sp>
      <p:sp>
        <p:nvSpPr>
          <p:cNvPr id="120" name="Text 118"/>
          <p:cNvSpPr txBox="1"/>
          <p:nvPr/>
        </p:nvSpPr>
        <p:spPr>
          <a:xfrm>
            <a:off x="7874905" y="3710693"/>
            <a:ext cx="447040" cy="259080"/>
          </a:xfrm>
          <a:prstGeom prst="rect">
            <a:avLst/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Release,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</a:t>
            </a:r>
            <a:endParaRPr lang="en-US" sz="700" dirty="0"/>
          </a:p>
        </p:txBody>
      </p:sp>
      <p:sp>
        <p:nvSpPr>
          <p:cNvPr id="121" name="Text 119"/>
          <p:cNvSpPr txBox="1"/>
          <p:nvPr/>
        </p:nvSpPr>
        <p:spPr>
          <a:xfrm>
            <a:off x="7942826" y="4672938"/>
            <a:ext cx="535940" cy="259080"/>
          </a:xfrm>
          <a:prstGeom prst="rect">
            <a:avLst/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Trigger,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signalling</a:t>
            </a:r>
            <a:endParaRPr lang="en-US" sz="700" dirty="0"/>
          </a:p>
        </p:txBody>
      </p:sp>
      <p:sp>
        <p:nvSpPr>
          <p:cNvPr id="122" name="Text 120"/>
          <p:cNvSpPr txBox="1"/>
          <p:nvPr/>
        </p:nvSpPr>
        <p:spPr>
          <a:xfrm>
            <a:off x="3111124" y="3586293"/>
            <a:ext cx="580390" cy="152400"/>
          </a:xfrm>
          <a:prstGeom prst="rect">
            <a:avLst/>
          </a:prstGeom>
          <a:solidFill>
            <a:srgbClr val="2FA8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</a:t>
            </a:r>
            <a:endParaRPr lang="en-US" sz="700" dirty="0"/>
          </a:p>
        </p:txBody>
      </p:sp>
      <p:sp>
        <p:nvSpPr>
          <p:cNvPr id="123" name="Text 121"/>
          <p:cNvSpPr txBox="1"/>
          <p:nvPr/>
        </p:nvSpPr>
        <p:spPr>
          <a:xfrm>
            <a:off x="3111124" y="4009191"/>
            <a:ext cx="580390" cy="152400"/>
          </a:xfrm>
          <a:prstGeom prst="rect">
            <a:avLst/>
          </a:prstGeom>
          <a:solidFill>
            <a:srgbClr val="2FA8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</a:t>
            </a:r>
            <a:endParaRPr lang="en-US" sz="700" dirty="0"/>
          </a:p>
        </p:txBody>
      </p:sp>
      <p:sp>
        <p:nvSpPr>
          <p:cNvPr id="124" name="Text 122"/>
          <p:cNvSpPr txBox="1"/>
          <p:nvPr/>
        </p:nvSpPr>
        <p:spPr>
          <a:xfrm>
            <a:off x="3111124" y="4468862"/>
            <a:ext cx="580390" cy="152400"/>
          </a:xfrm>
          <a:prstGeom prst="rect">
            <a:avLst/>
          </a:prstGeom>
          <a:solidFill>
            <a:srgbClr val="2FA8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</a:t>
            </a:r>
            <a:endParaRPr lang="en-US" sz="700" dirty="0"/>
          </a:p>
        </p:txBody>
      </p:sp>
      <p:sp>
        <p:nvSpPr>
          <p:cNvPr id="125" name="Text 123"/>
          <p:cNvSpPr txBox="1"/>
          <p:nvPr/>
        </p:nvSpPr>
        <p:spPr>
          <a:xfrm>
            <a:off x="3746397" y="4640473"/>
            <a:ext cx="313690" cy="152400"/>
          </a:xfrm>
          <a:prstGeom prst="rect">
            <a:avLst/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700" dirty="0"/>
          </a:p>
        </p:txBody>
      </p:sp>
      <p:sp>
        <p:nvSpPr>
          <p:cNvPr id="126" name="Text 124"/>
          <p:cNvSpPr txBox="1"/>
          <p:nvPr/>
        </p:nvSpPr>
        <p:spPr>
          <a:xfrm>
            <a:off x="5109832" y="4640473"/>
            <a:ext cx="313690" cy="152400"/>
          </a:xfrm>
          <a:prstGeom prst="rect">
            <a:avLst/>
          </a:prstGeom>
          <a:solidFill>
            <a:srgbClr val="2FA8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700" dirty="0"/>
          </a:p>
        </p:txBody>
      </p:sp>
      <p:sp>
        <p:nvSpPr>
          <p:cNvPr id="127" name="Text 125"/>
          <p:cNvSpPr txBox="1"/>
          <p:nvPr/>
        </p:nvSpPr>
        <p:spPr>
          <a:xfrm>
            <a:off x="6398601" y="4640473"/>
            <a:ext cx="358140" cy="152400"/>
          </a:xfrm>
          <a:prstGeom prst="rect">
            <a:avLst/>
          </a:prstGeom>
          <a:solidFill>
            <a:srgbClr val="2FA8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</a:t>
            </a:r>
            <a:endParaRPr lang="en-US" sz="700" dirty="0"/>
          </a:p>
        </p:txBody>
      </p:sp>
      <p:sp>
        <p:nvSpPr>
          <p:cNvPr id="128" name="Text 126"/>
          <p:cNvSpPr txBox="1"/>
          <p:nvPr/>
        </p:nvSpPr>
        <p:spPr>
          <a:xfrm>
            <a:off x="5657950" y="5150996"/>
            <a:ext cx="535940" cy="259080"/>
          </a:xfrm>
          <a:prstGeom prst="rect">
            <a:avLst/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</a:t>
            </a:r>
            <a:endParaRPr lang="en-US" sz="700" dirty="0"/>
          </a:p>
        </p:txBody>
      </p:sp>
      <p:sp>
        <p:nvSpPr>
          <p:cNvPr id="129" name="Text 127"/>
          <p:cNvSpPr txBox="1"/>
          <p:nvPr/>
        </p:nvSpPr>
        <p:spPr>
          <a:xfrm>
            <a:off x="3708940" y="5559816"/>
            <a:ext cx="313690" cy="152400"/>
          </a:xfrm>
          <a:prstGeom prst="rect">
            <a:avLst/>
          </a:prstGeom>
          <a:solidFill>
            <a:srgbClr val="2FA8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</a:t>
            </a:r>
            <a:endParaRPr lang="en-US" sz="700" dirty="0"/>
          </a:p>
        </p:txBody>
      </p:sp>
      <p:sp>
        <p:nvSpPr>
          <p:cNvPr id="130" name="Text 128"/>
          <p:cNvSpPr txBox="1"/>
          <p:nvPr/>
        </p:nvSpPr>
        <p:spPr>
          <a:xfrm>
            <a:off x="9320246" y="3586293"/>
            <a:ext cx="358140" cy="152400"/>
          </a:xfrm>
          <a:prstGeom prst="rect">
            <a:avLst/>
          </a:prstGeom>
          <a:solidFill>
            <a:srgbClr val="2FA8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700" dirty="0"/>
          </a:p>
        </p:txBody>
      </p:sp>
      <p:sp>
        <p:nvSpPr>
          <p:cNvPr id="131" name="Text 129"/>
          <p:cNvSpPr txBox="1"/>
          <p:nvPr/>
        </p:nvSpPr>
        <p:spPr>
          <a:xfrm>
            <a:off x="9320495" y="4009191"/>
            <a:ext cx="402590" cy="152400"/>
          </a:xfrm>
          <a:prstGeom prst="rect">
            <a:avLst/>
          </a:prstGeom>
          <a:solidFill>
            <a:srgbClr val="2FA8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700" dirty="0"/>
          </a:p>
        </p:txBody>
      </p:sp>
      <p:sp>
        <p:nvSpPr>
          <p:cNvPr id="132" name="Text 130"/>
          <p:cNvSpPr txBox="1"/>
          <p:nvPr/>
        </p:nvSpPr>
        <p:spPr>
          <a:xfrm>
            <a:off x="607028" y="6506821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shown: low-voltage supply of every piece of equipment by the power distribution board.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→ functions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component embodies at least one function; each function has at least one component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503920" y="27432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view · Traceability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500116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43000"/>
                <a:gridCol w="234543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GNSS receiver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6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3.4, 4.1, 7.2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Stereo cameras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6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4.2, 4.3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LiDAR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6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4.2, 4.3, 4.5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Ultrasonic sensors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6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3.5, 4.2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4G/5G modem + antenna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6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1.1, 1.3, 1.4, 5.1, 5.2, 5.3, 5.6, 8.3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C2 radio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6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 ID module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6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Charging connector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6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BMS (battery management)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6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6.3, 7.1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Li-ion battery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6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6.2, 8.4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distribution board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6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Flight controller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Avionics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6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3.2, 3.3, 3.4, 3.5, 4.1, 4.4, 7.1, 7.3, 8.1, 8.2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1636" y="1188720"/>
          <a:ext cx="5500116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43000"/>
                <a:gridCol w="234543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Mission computer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Avionics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6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1.1, 1.2, 1.3, 1.4, 2.4, 2.6, 2.7, 4.3, 4.4, 4.5, 5.2, 5.6, 7.1, 7.2, 7.3, 7.6, 8.1, 8.2, 8.3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cell (mass)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Payload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6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 bay + lock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Payload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6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2.1, 2.3, 2.7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Winch + tether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Payload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6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2.5, 2.7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Drop-zone camera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Payload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6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2.4, 2.5, 2.6, 4.5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controllers (ESC) ×4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Propulsion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6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3.1, 3.2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Brushless motors ×4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Propulsion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6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3.1, 3.3, 3.4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Propellers ×4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Propulsion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6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3.1, 3.3, 7.6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Carbon frame + arms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6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2.3, 3.6, 7.5, 8.4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 gear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6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Parachute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6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Lights + speaker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6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5.3, 5.5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Delivery drone - MBSE case study</dc:title>
  <dc:subject>PptxGenJS Presentation</dc:subject>
  <dc:creator>PptxGenJS</dc:creator>
  <cp:lastModifiedBy>PptxGenJS</cp:lastModifiedBy>
  <cp:revision>1</cp:revision>
  <dcterms:created xsi:type="dcterms:W3CDTF">2026-09-25T08:18:34Z</dcterms:created>
  <dcterms:modified xsi:type="dcterms:W3CDTF">2026-09-25T08:18:34Z</dcterms:modified>
</cp:coreProperties>
</file>